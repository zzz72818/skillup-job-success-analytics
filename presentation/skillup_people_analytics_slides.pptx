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71" r:id="rId11"/>
    <p:sldId id="286" r:id="rId12"/>
    <p:sldId id="287" r:id="rId13"/>
    <p:sldId id="295" r:id="rId14"/>
    <p:sldId id="274" r:id="rId15"/>
    <p:sldId id="264" r:id="rId16"/>
    <p:sldId id="289" r:id="rId17"/>
    <p:sldId id="293" r:id="rId18"/>
    <p:sldId id="29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DE6723C3-9570-4C3E-8DD9-E701E08BA91C}">
          <p14:sldIdLst>
            <p14:sldId id="256"/>
            <p14:sldId id="257"/>
          </p14:sldIdLst>
        </p14:section>
        <p14:section name="Introduction" id="{4C8E6798-8141-41BB-8BA7-76AF456A4BE6}">
          <p14:sldIdLst>
            <p14:sldId id="258"/>
          </p14:sldIdLst>
        </p14:section>
        <p14:section name="Methodologies &amp; Analysis" id="{9DF26B4C-719F-4232-A89E-843E8D4E465F}">
          <p14:sldIdLst>
            <p14:sldId id="259"/>
            <p14:sldId id="260"/>
            <p14:sldId id="261"/>
            <p14:sldId id="263"/>
            <p14:sldId id="266"/>
            <p14:sldId id="267"/>
          </p14:sldIdLst>
        </p14:section>
        <p14:section name="Key findings &amp; Insights" id="{420C016E-65E9-4A9F-B106-CD1F2CC0D859}">
          <p14:sldIdLst>
            <p14:sldId id="271"/>
            <p14:sldId id="286"/>
            <p14:sldId id="287"/>
            <p14:sldId id="295"/>
          </p14:sldIdLst>
        </p14:section>
        <p14:section name="Recommendations" id="{64E3E73E-1A67-4954-9084-573ECA956F7A}">
          <p14:sldIdLst>
            <p14:sldId id="274"/>
          </p14:sldIdLst>
        </p14:section>
        <p14:section name="Appendix" id="{ADA0A428-52E7-4EEF-8DE3-A023BBB78D37}">
          <p14:sldIdLst>
            <p14:sldId id="264"/>
            <p14:sldId id="289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BD"/>
    <a:srgbClr val="FFCC00"/>
    <a:srgbClr val="009DA6"/>
    <a:srgbClr val="063348"/>
    <a:srgbClr val="29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15" autoAdjust="0"/>
  </p:normalViewPr>
  <p:slideViewPr>
    <p:cSldViewPr snapToGrid="0" showGuides="1">
      <p:cViewPr varScale="1">
        <p:scale>
          <a:sx n="50" d="100"/>
          <a:sy n="50" d="100"/>
        </p:scale>
        <p:origin x="1188" y="40"/>
      </p:cViewPr>
      <p:guideLst>
        <p:guide orient="horz" pos="2205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B1B38-7BEE-424C-9311-649F295FE454}" type="datetimeFigureOut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49D72-5B57-46DD-AA74-8288976011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Team TGW</a:t>
            </a:r>
            <a:r>
              <a:rPr lang="zh-TW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7704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631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815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Correlation analysis, Chi-Square Test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20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38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815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2B35-17FC-BDA5-74AF-AAF6EE52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924F5F2-DCAF-39CD-9D52-2F7AF25A5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39D994-BDA3-E536-8F27-CA0E22D62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35858C-3153-F87A-15EA-DBBE57CC0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8514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308D-E43B-79E9-70E5-A502EE8C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61DABFE-E84B-E90E-7525-C100DBC76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81FF021-F87A-721C-5AC2-F6011B0A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AE1513-A53F-438F-9234-D4295E11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885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E144-6F14-BFE7-7A56-C8277A3F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D8AB05-FE8C-113D-E63E-7F51245A5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6BA51F-EAC7-4377-03D5-F1E61C4D0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5555B2-85EE-6E7B-6448-23442AFD6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26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3280-C612-4637-4D5E-C2649A59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D9AB8D6-1B3F-1EB9-DFA8-FAD9F1685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C7F4DB-1591-2105-9BE2-2E5E2BBA6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D5188A-40E8-ABDF-2B48-6D00C120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841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0874-6AA1-FB4C-D843-94A098DE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DFA0EBC-7E04-CBC6-C85E-78B1E38D6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188B4A-16FE-2A60-57E8-E32DA1C06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89EC36-87EB-1387-829F-35E3B1548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609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5ED3D-6EC5-8CB1-83B7-2B4E7362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9A7CBB-6413-AF06-C17E-262183BEE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9BD58A-5591-FE21-05C0-6F94479C8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82F840-D443-BC52-CA29-A01C49DFB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91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0E66-98AF-42E3-6DCF-E747E477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19A9EE-2939-7845-5278-F4B5A11BE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78E8D5B-1D08-E333-0D68-68B30894C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4CD58-4D4E-8619-AD63-33B8DC516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976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01FE-7A3E-7E0A-01B4-0221BD60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4DC9D-167C-7F74-405D-30767EC79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814C48F-84C9-4688-3E3C-D2681D54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TW" altLang="en-US" sz="28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D4CF5D-D4A4-30A7-BB21-2F9F9D356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40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A418-0336-B45C-FBF1-C7B484AC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4F4206-7D2B-EB38-B193-B25491073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4F3D3-FAF3-8A50-1851-3A80DD45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C7595A-C323-0C92-A3AE-0CFD0F926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28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286B-A7E9-8467-BE76-BCC6A6AB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5779498-BF0D-60B0-1701-4F69C3172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9E6045-B658-A450-2A88-8B8A6E973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Did you find your new job through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SkillUp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</a:t>
            </a:r>
          </a:p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Did you find the training program through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SkillUp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7C753E-1230-776C-0D1A-312C830B8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419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816D-A9A2-BFCB-3150-74707D75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606E25-B1EC-9264-4540-D2E227BDA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E03D6F-0CB0-8200-BD85-575B1DD5C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Did you find your new job through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SkillUp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</a:t>
            </a:r>
          </a:p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Did you find the training program through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SkillUp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34B236-91AA-0A29-53C4-707BDE2C2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474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7A38-6865-E69D-A339-1B9A3D1C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AD8860-DFC0-7A30-683F-BE4359B61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0AD168-CBAE-18CB-9F62-CC62327C1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5B452-0B1C-1E2D-0500-72A604EC1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49D72-5B57-46DD-AA74-82889760118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2589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F6F493-6E42-FDDE-725E-AE16E8732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DCEBD18-BF58-E590-D554-69D8E3ADD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125239-AA98-93A3-B630-A553ED2F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0EB08-A76B-42C1-932D-94CF61E26E79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F5C17B-D580-50DA-04D4-5088A869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99DA03-995A-2094-7F24-D9AB6CB4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10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FF028-9531-9715-426F-EBC600D5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078E0D-6856-72CC-55B4-9DB6120B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820F16-FB4A-920A-7EA4-D705A438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ADFB-69D0-4D1D-8644-3D158D9E1920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303A47-FBCD-D6CC-D24F-931847D6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3F01C-F5EA-2BBD-28AA-D5E3B0D9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08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5DE63-909A-F32B-BB2C-B3286C45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A23812-B8FE-F5B7-D4C8-11DD1A04F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FC7AA2-234E-C1DC-345E-B83BAB6A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4EB97-4095-400D-9686-6F9CA60821BE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0381D4-443E-2317-8114-788CBC80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192126-941E-4C60-17F5-DDC1F27F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72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105BB-FE69-5214-ECB7-F21B4234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CF3136-14AE-DA96-AECA-822CDB1D1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1096D-7373-3B79-3BD7-65EF0E650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A0F26D-1184-5E69-4C3F-421483F1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F38D-97FB-4C8C-89B7-C7B3DA7378FC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57CB60-D80C-9C8F-F253-C6DE9F2A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45093A-1E24-3896-EB6A-E6596E17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70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76FEA5-1945-97B5-6C28-135DA28C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C2B651-E9DB-1995-AE54-2E64BEE99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DB47A2-928B-646D-ABEC-9CD3C99AD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69971D-E35F-FB2B-F824-6142A2757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2C4A96-0A7C-B85C-4A95-31D4EB223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42EFD6-FBD1-1F20-CEB5-69E1D168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3146C-5BC9-4B49-A3FA-E28D1FC10304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E83178-2C24-D153-11A2-F09C1EA8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648636B-0702-82D1-56FF-9E7B70B76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27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4CC44-C2A4-FEC0-1E8B-3D6103DF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80B1F8-DD04-1071-2A3B-996FA46C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D58A6-8288-4258-9426-B3FAACFE5F98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DF719A-82A6-84CE-99E2-D874D37E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969288-599E-2F3C-2A08-2A363912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69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11C187-0C07-F8D2-032E-46FFA960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77664-B1FB-4066-B795-D43BEB998ED6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990B78-79F5-EBFE-9480-4561480C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B4D53-460A-453C-C087-D9AC4CC4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43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99252-8376-2403-8648-F80D1FBC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EBF1B7-1E60-336E-09C9-0E002A4D5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0A4CE7-5359-2FDA-D392-EA9A77983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375B7B-730F-C09E-7E1E-B2E8D0E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4E18-FF81-4C04-84D5-565B90C6AD93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64ED9A-1705-BCE7-806D-A73528A4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4A469D-C3DD-A1C4-EC6A-3B4EEE7A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5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9F081-DF7A-11D2-C77B-A3A5A805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07D8257-8709-9CAB-5D7F-F680C59A8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95F012-4604-1A23-1DD1-D6FAB35A3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64EFB8-7845-7770-38B5-4BD5CFFDC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5FA2F-6524-40EA-8A36-352603F6E29C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13C07-E3B1-8C88-13B4-62A7A24C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69CEF2-75AE-60A7-D5E0-5DD8704E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0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8E40FF-D38A-D847-6B78-4CEA357E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A79ECD-67F7-D7BC-40E7-6EDDEFE34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28868F-E85E-111A-C220-DD9657AE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DCDA-BF93-47AA-9622-37D3051B4A36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AC5EA2-D61B-9362-32C6-C727B736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B4B4C9-2270-48E9-066E-9DD5FF65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14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AB6D947-9F65-DADA-2B92-A241405F3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07A228-3A0B-33AD-16D9-CF113FB12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0C845B-386C-557B-7E6F-0F3C629A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D0E9-4035-466B-B1D4-6D87D569995A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56B57B-13B0-E366-01D1-FB38D18F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0B5CF6-F321-1783-8663-51A9512C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68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698651A-21E9-4B32-FBCF-BD064F96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DA3E02-608E-E9C7-9FBF-F2B76F94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33039B-E072-32CF-790C-F34EDA080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08285-6BEC-4BB2-AAFA-7FCE1EE551DB}" type="datetime1">
              <a:rPr lang="zh-TW" altLang="en-US" smtClean="0"/>
              <a:t>2025/2/17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4085A0-D037-2DA1-0535-950482588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981A33-AA2D-4398-74E7-E658E71F0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66FE0-CB35-462D-A64B-E009F4443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80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package" Target="../embeddings/Microsoft_Excel_Worksheet1.xlsx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package" Target="../embeddings/Microsoft_Excel_Worksheet3.xlsx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4B8A8B9-2442-B005-F8A6-E11B10D7F83D}"/>
              </a:ext>
            </a:extLst>
          </p:cNvPr>
          <p:cNvSpPr/>
          <p:nvPr/>
        </p:nvSpPr>
        <p:spPr>
          <a:xfrm>
            <a:off x="553452" y="-1"/>
            <a:ext cx="239372" cy="375385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D03EBA-C510-B1FA-10F7-D9740DFB767A}"/>
              </a:ext>
            </a:extLst>
          </p:cNvPr>
          <p:cNvSpPr txBox="1"/>
          <p:nvPr/>
        </p:nvSpPr>
        <p:spPr>
          <a:xfrm>
            <a:off x="992032" y="2395482"/>
            <a:ext cx="109441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Unlocking Success: </a:t>
            </a:r>
          </a:p>
          <a:p>
            <a:r>
              <a:rPr lang="en-US" altLang="zh-TW" sz="3400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Identifying Key Factors Driving Job Seekers’ Outcomes</a:t>
            </a:r>
            <a:endParaRPr lang="zh-TW" altLang="en-US" sz="3400" dirty="0">
              <a:solidFill>
                <a:srgbClr val="009DA6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C91C0F-5DDD-7D31-E388-CC9D45673F2E}"/>
              </a:ext>
            </a:extLst>
          </p:cNvPr>
          <p:cNvSpPr txBox="1"/>
          <p:nvPr/>
        </p:nvSpPr>
        <p:spPr>
          <a:xfrm>
            <a:off x="992032" y="4285486"/>
            <a:ext cx="5539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 X TEAM TGW</a:t>
            </a:r>
            <a:endParaRPr lang="zh-TW" altLang="en-US" sz="1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96E1C4-5AA1-668E-77E7-DF80DCE65307}"/>
              </a:ext>
            </a:extLst>
          </p:cNvPr>
          <p:cNvSpPr txBox="1"/>
          <p:nvPr/>
        </p:nvSpPr>
        <p:spPr>
          <a:xfrm rot="16200000">
            <a:off x="-892599" y="5110604"/>
            <a:ext cx="3063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People Analytics case competition</a:t>
            </a:r>
            <a:endParaRPr lang="zh-TW" altLang="en-US" sz="105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6FA75C-539F-E002-D86C-37FDDF1146E8}"/>
              </a:ext>
            </a:extLst>
          </p:cNvPr>
          <p:cNvSpPr/>
          <p:nvPr/>
        </p:nvSpPr>
        <p:spPr>
          <a:xfrm rot="5400000">
            <a:off x="11084089" y="136660"/>
            <a:ext cx="216000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FB166C4-6BC5-D575-3C6A-710B0FB71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051" y="169839"/>
            <a:ext cx="2980134" cy="602917"/>
          </a:xfrm>
          <a:prstGeom prst="rect">
            <a:avLst/>
          </a:prstGeom>
        </p:spPr>
      </p:pic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DAECF91D-85DD-F3D4-AE21-6520CD36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0B0C92F-C877-7EE9-71D7-FDACCB421041}"/>
              </a:ext>
            </a:extLst>
          </p:cNvPr>
          <p:cNvSpPr txBox="1"/>
          <p:nvPr/>
        </p:nvSpPr>
        <p:spPr>
          <a:xfrm>
            <a:off x="992032" y="4685596"/>
            <a:ext cx="5539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Huai Hsuan Huang, Po An Tao</a:t>
            </a:r>
            <a:endParaRPr lang="zh-TW" altLang="en-US" sz="11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407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FE7C51B-A5CA-ECBC-A940-EF4BBF098B60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A6AF09-B07D-F410-319B-9AEB2D71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D263579-DE73-CB4E-D01D-DCC966252416}"/>
              </a:ext>
            </a:extLst>
          </p:cNvPr>
          <p:cNvSpPr txBox="1"/>
          <p:nvPr/>
        </p:nvSpPr>
        <p:spPr>
          <a:xfrm>
            <a:off x="553159" y="527091"/>
            <a:ext cx="6099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Contents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063348"/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C212590C-DEAC-92C7-12A0-B3B3C5C7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1CCB0C-2B7F-8E88-B130-B2430AD4502A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8CE83F0-7289-0D59-736E-081C67C8C987}"/>
              </a:ext>
            </a:extLst>
          </p:cNvPr>
          <p:cNvGrpSpPr/>
          <p:nvPr/>
        </p:nvGrpSpPr>
        <p:grpSpPr>
          <a:xfrm>
            <a:off x="3356043" y="0"/>
            <a:ext cx="914400" cy="6858000"/>
            <a:chOff x="3959157" y="0"/>
            <a:chExt cx="914400" cy="6858000"/>
          </a:xfrm>
        </p:grpSpPr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2D6989CC-9CFB-21D0-D364-607E64FB7BEE}"/>
                </a:ext>
              </a:extLst>
            </p:cNvPr>
            <p:cNvCxnSpPr/>
            <p:nvPr/>
          </p:nvCxnSpPr>
          <p:spPr>
            <a:xfrm>
              <a:off x="4416357" y="0"/>
              <a:ext cx="0" cy="685800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3D9AAEDC-4718-2AD6-B51B-C0FD9D54250C}"/>
                </a:ext>
              </a:extLst>
            </p:cNvPr>
            <p:cNvSpPr/>
            <p:nvPr/>
          </p:nvSpPr>
          <p:spPr>
            <a:xfrm>
              <a:off x="3959157" y="993777"/>
              <a:ext cx="914400" cy="9144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b="1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01</a:t>
              </a:r>
              <a:endParaRPr lang="zh-TW" altLang="en-US" sz="28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FB31ACC-52E5-20EA-7461-7C764CF9DAB4}"/>
                </a:ext>
              </a:extLst>
            </p:cNvPr>
            <p:cNvSpPr/>
            <p:nvPr/>
          </p:nvSpPr>
          <p:spPr>
            <a:xfrm>
              <a:off x="3959157" y="2129408"/>
              <a:ext cx="914400" cy="9144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633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b="1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02</a:t>
              </a:r>
              <a:endParaRPr lang="zh-TW" altLang="en-US" sz="28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36BB9CCC-E4D3-978E-AC52-4A21826DCA6F}"/>
                </a:ext>
              </a:extLst>
            </p:cNvPr>
            <p:cNvSpPr/>
            <p:nvPr/>
          </p:nvSpPr>
          <p:spPr>
            <a:xfrm>
              <a:off x="3959157" y="3295479"/>
              <a:ext cx="914400" cy="9144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b="1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03</a:t>
              </a:r>
              <a:endParaRPr lang="zh-TW" altLang="en-US" sz="28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476C516A-300F-1D6C-73F6-438BCD6EF449}"/>
                </a:ext>
              </a:extLst>
            </p:cNvPr>
            <p:cNvSpPr/>
            <p:nvPr/>
          </p:nvSpPr>
          <p:spPr>
            <a:xfrm>
              <a:off x="3959157" y="4461550"/>
              <a:ext cx="914400" cy="9144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0633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b="1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04</a:t>
              </a:r>
              <a:endParaRPr lang="zh-TW" altLang="en-US" sz="28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E14B307-BB22-D72D-E115-963A7B10CE50}"/>
              </a:ext>
            </a:extLst>
          </p:cNvPr>
          <p:cNvSpPr txBox="1"/>
          <p:nvPr/>
        </p:nvSpPr>
        <p:spPr>
          <a:xfrm>
            <a:off x="5120712" y="1188279"/>
            <a:ext cx="6099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u="sng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Introduction</a:t>
            </a:r>
            <a:endParaRPr kumimoji="0" lang="en-US" altLang="zh-TW" sz="3200" b="1" i="0" u="sng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F1335AE-397E-5719-08DD-1EC0C7F98653}"/>
              </a:ext>
            </a:extLst>
          </p:cNvPr>
          <p:cNvSpPr txBox="1"/>
          <p:nvPr/>
        </p:nvSpPr>
        <p:spPr>
          <a:xfrm>
            <a:off x="5120712" y="2209148"/>
            <a:ext cx="6099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u="sng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  <a:endParaRPr kumimoji="0" lang="en-US" altLang="zh-TW" sz="3200" b="1" i="0" u="sng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FF7BA46-C179-9927-7167-0E992D1751D3}"/>
              </a:ext>
            </a:extLst>
          </p:cNvPr>
          <p:cNvSpPr txBox="1"/>
          <p:nvPr/>
        </p:nvSpPr>
        <p:spPr>
          <a:xfrm>
            <a:off x="5120712" y="3460292"/>
            <a:ext cx="6099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u="sng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Key findings &amp; insights</a:t>
            </a:r>
            <a:endParaRPr kumimoji="0" lang="en-US" altLang="zh-TW" sz="3200" b="1" i="0" u="sng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BF6324F-782D-FF55-6876-14B480A1FFFD}"/>
              </a:ext>
            </a:extLst>
          </p:cNvPr>
          <p:cNvSpPr txBox="1"/>
          <p:nvPr/>
        </p:nvSpPr>
        <p:spPr>
          <a:xfrm>
            <a:off x="5120712" y="4619315"/>
            <a:ext cx="6099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u="sng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Recommendations</a:t>
            </a:r>
            <a:endParaRPr kumimoji="0" lang="en-US" altLang="zh-TW" sz="3200" b="1" i="0" u="sng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B131694-8A88-D2B3-FFD8-F590B217A818}"/>
              </a:ext>
            </a:extLst>
          </p:cNvPr>
          <p:cNvSpPr/>
          <p:nvPr/>
        </p:nvSpPr>
        <p:spPr>
          <a:xfrm>
            <a:off x="3356043" y="5627621"/>
            <a:ext cx="914400" cy="9144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05</a:t>
            </a:r>
            <a:endParaRPr lang="zh-TW" altLang="en-US" sz="2800" b="1" dirty="0">
              <a:solidFill>
                <a:schemeClr val="bg2">
                  <a:lumMod val="25000"/>
                </a:schemeClr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CA2FC2-EF4A-DFE6-D6D9-E89E9EF9E260}"/>
              </a:ext>
            </a:extLst>
          </p:cNvPr>
          <p:cNvSpPr txBox="1"/>
          <p:nvPr/>
        </p:nvSpPr>
        <p:spPr>
          <a:xfrm>
            <a:off x="5120712" y="5746134"/>
            <a:ext cx="6099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u="sng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Appendix</a:t>
            </a:r>
            <a:endParaRPr kumimoji="0" lang="en-US" altLang="zh-TW" sz="3200" b="1" i="0" u="sng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481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1A8CC93D-A04B-C228-AB88-FDBCFBD4CF3A}"/>
              </a:ext>
            </a:extLst>
          </p:cNvPr>
          <p:cNvSpPr/>
          <p:nvPr/>
        </p:nvSpPr>
        <p:spPr>
          <a:xfrm>
            <a:off x="6190584" y="1272510"/>
            <a:ext cx="5756950" cy="5121371"/>
          </a:xfrm>
          <a:prstGeom prst="roundRect">
            <a:avLst/>
          </a:prstGeom>
          <a:solidFill>
            <a:srgbClr val="0633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749505-2308-9D82-84C9-917F4AC6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90CC65-F2A2-B582-73E5-1E29B6417547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8C01A9-D40F-38E2-F3C2-4CA122634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71CAAE2-D176-AF0E-DE73-5126C0E96A67}"/>
              </a:ext>
            </a:extLst>
          </p:cNvPr>
          <p:cNvSpPr txBox="1"/>
          <p:nvPr/>
        </p:nvSpPr>
        <p:spPr>
          <a:xfrm>
            <a:off x="553159" y="527091"/>
            <a:ext cx="29995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Introduction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2F4134-89FF-FC02-74C6-5C1E8F65B51A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D693E2E-A33E-AABB-359B-3FED2ED1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39" y="1940069"/>
            <a:ext cx="1796376" cy="471050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E7D3BCB4-3AD2-A7C2-FE9B-DCDD7A8B7F8F}"/>
              </a:ext>
            </a:extLst>
          </p:cNvPr>
          <p:cNvSpPr txBox="1"/>
          <p:nvPr/>
        </p:nvSpPr>
        <p:spPr>
          <a:xfrm>
            <a:off x="635539" y="2767643"/>
            <a:ext cx="5084325" cy="2809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Nonprofit organization founded in 2020, helps workers without a degree secure quality jobs through career navigation, training, and resources, empowering them to develop skills and enter high-demand industries.</a:t>
            </a:r>
            <a:endParaRPr lang="zh-TW" altLang="en-US" sz="20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BB5EE0A-AAD5-275A-F4F6-EA2A87C2ECD0}"/>
              </a:ext>
            </a:extLst>
          </p:cNvPr>
          <p:cNvCxnSpPr>
            <a:cxnSpLocks/>
          </p:cNvCxnSpPr>
          <p:nvPr/>
        </p:nvCxnSpPr>
        <p:spPr>
          <a:xfrm>
            <a:off x="635539" y="2589381"/>
            <a:ext cx="5084325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4E70C47-A7FC-92D5-1926-B11CABAE3492}"/>
              </a:ext>
            </a:extLst>
          </p:cNvPr>
          <p:cNvSpPr txBox="1"/>
          <p:nvPr/>
        </p:nvSpPr>
        <p:spPr>
          <a:xfrm>
            <a:off x="6500956" y="1486208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b="1" u="sng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About Case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20AD6AB-536C-8BB1-DF9A-CC4BDE73E290}"/>
              </a:ext>
            </a:extLst>
          </p:cNvPr>
          <p:cNvSpPr txBox="1"/>
          <p:nvPr/>
        </p:nvSpPr>
        <p:spPr>
          <a:xfrm>
            <a:off x="6500956" y="2080085"/>
            <a:ext cx="5435229" cy="424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Using </a:t>
            </a:r>
            <a:r>
              <a:rPr lang="en-US" altLang="zh-TW" sz="2000" dirty="0" err="1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2000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website data and survey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29F5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Track user behaviors </a:t>
            </a:r>
            <a:r>
              <a:rPr lang="en-US" altLang="zh-TW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– Analyze user interactions, including resource access, coaching, and job applications.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29F5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Identify key success factors </a:t>
            </a:r>
            <a:r>
              <a:rPr lang="en-US" altLang="zh-TW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– Identify key drivers of job placement and training participation.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29F5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Understand demographic variations </a:t>
            </a:r>
            <a:r>
              <a:rPr lang="en-US" altLang="zh-TW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– Examine how success factors differ across user backgrounds and career goals.</a:t>
            </a:r>
            <a:endParaRPr lang="zh-TW" altLang="en-US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F8EC099-53FC-0F08-F2DA-AFAA71E941BE}"/>
              </a:ext>
            </a:extLst>
          </p:cNvPr>
          <p:cNvSpPr txBox="1"/>
          <p:nvPr/>
        </p:nvSpPr>
        <p:spPr>
          <a:xfrm>
            <a:off x="3289627" y="659755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-Company &amp; case </a:t>
            </a:r>
          </a:p>
        </p:txBody>
      </p:sp>
    </p:spTree>
    <p:extLst>
      <p:ext uri="{BB962C8B-B14F-4D97-AF65-F5344CB8AC3E}">
        <p14:creationId xmlns:p14="http://schemas.microsoft.com/office/powerpoint/2010/main" val="319653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D4D9435-70F6-7D69-8C55-EEC9FDB9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D72A89-D38E-91CF-887F-5C647BD87392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E9CBF4-5BB8-11EB-4148-A9FED696C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B305E8E-7F08-5264-EABD-C76565C36ED3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07764D-C69A-3131-7596-2889C56ADC66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E659800-2DD2-4551-BE5B-AD4FCD1C04AC}"/>
              </a:ext>
            </a:extLst>
          </p:cNvPr>
          <p:cNvSpPr txBox="1"/>
          <p:nvPr/>
        </p:nvSpPr>
        <p:spPr>
          <a:xfrm>
            <a:off x="6614808" y="650201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-Overview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150615A-03E0-CDA9-18CE-7A4737B19A50}"/>
              </a:ext>
            </a:extLst>
          </p:cNvPr>
          <p:cNvSpPr txBox="1"/>
          <p:nvPr/>
        </p:nvSpPr>
        <p:spPr>
          <a:xfrm>
            <a:off x="635539" y="4451148"/>
            <a:ext cx="4492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>
                <a:solidFill>
                  <a:srgbClr val="009DA6"/>
                </a:solidFill>
              </a:rPr>
              <a:t>2. Data Analysis</a:t>
            </a:r>
            <a:endParaRPr lang="zh-TW" altLang="en-US" dirty="0">
              <a:solidFill>
                <a:srgbClr val="009DA6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5F52173-7962-56F5-2D95-0B0005E6F064}"/>
              </a:ext>
            </a:extLst>
          </p:cNvPr>
          <p:cNvGrpSpPr/>
          <p:nvPr/>
        </p:nvGrpSpPr>
        <p:grpSpPr>
          <a:xfrm>
            <a:off x="708801" y="2433425"/>
            <a:ext cx="11465600" cy="1853880"/>
            <a:chOff x="708801" y="2154415"/>
            <a:chExt cx="11465600" cy="1853880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5CA991A5-7D89-D12E-A58C-78CF53543198}"/>
                </a:ext>
              </a:extLst>
            </p:cNvPr>
            <p:cNvSpPr txBox="1"/>
            <p:nvPr/>
          </p:nvSpPr>
          <p:spPr>
            <a:xfrm>
              <a:off x="947017" y="2236860"/>
              <a:ext cx="1122738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Confirm Data Sources: 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WAP_pulse_survey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, 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WAP_all_time_connect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, 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WAP_individual</a:t>
              </a:r>
              <a:endPara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Define Analysis Period: 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Q1:2023-Q3:2024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Define X and Y Variables: 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Y: 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skillup_find_new_job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, 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skillup_training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/X: user interactions, demographics, and engagement metrics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Handle Missing Data: 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Apply appropriate imputation strategies (category "Unknown" for categorical variables)</a:t>
              </a:r>
              <a:endPara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8" name="矩形: 圓角化對角角落 17">
              <a:extLst>
                <a:ext uri="{FF2B5EF4-FFF2-40B4-BE49-F238E27FC236}">
                  <a16:creationId xmlns:a16="http://schemas.microsoft.com/office/drawing/2014/main" id="{0C248FFB-1EB4-66B6-8C2E-2A3FA4D1ED9C}"/>
                </a:ext>
              </a:extLst>
            </p:cNvPr>
            <p:cNvSpPr/>
            <p:nvPr/>
          </p:nvSpPr>
          <p:spPr>
            <a:xfrm>
              <a:off x="708801" y="2154415"/>
              <a:ext cx="11227384" cy="1853880"/>
            </a:xfrm>
            <a:prstGeom prst="round2Diag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B4CD82D-43F4-ADCC-D5B6-B0A47ADDC531}"/>
              </a:ext>
            </a:extLst>
          </p:cNvPr>
          <p:cNvSpPr txBox="1"/>
          <p:nvPr/>
        </p:nvSpPr>
        <p:spPr>
          <a:xfrm>
            <a:off x="705559" y="1965343"/>
            <a:ext cx="4492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>
                <a:solidFill>
                  <a:srgbClr val="009DA6"/>
                </a:solidFill>
              </a:rPr>
              <a:t>1. Data Cleaning Process</a:t>
            </a:r>
            <a:endParaRPr lang="zh-TW" altLang="en-US" dirty="0">
              <a:solidFill>
                <a:srgbClr val="009DA6"/>
              </a:solidFill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74E8CFF-8ED6-639C-BA2B-43EEAC2E481C}"/>
              </a:ext>
            </a:extLst>
          </p:cNvPr>
          <p:cNvGrpSpPr/>
          <p:nvPr/>
        </p:nvGrpSpPr>
        <p:grpSpPr>
          <a:xfrm>
            <a:off x="705559" y="4975094"/>
            <a:ext cx="11465600" cy="739516"/>
            <a:chOff x="708801" y="2154415"/>
            <a:chExt cx="11465600" cy="1853880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6D6C8BE-3DF3-120F-25BA-923FC10DE32A}"/>
                </a:ext>
              </a:extLst>
            </p:cNvPr>
            <p:cNvSpPr txBox="1"/>
            <p:nvPr/>
          </p:nvSpPr>
          <p:spPr>
            <a:xfrm>
              <a:off x="947017" y="2236859"/>
              <a:ext cx="11227384" cy="1620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Descriptive Analysis: 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Correlation analysis, Chi-Square Test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b="1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Prediction Model: 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Logistic Regression</a:t>
              </a:r>
              <a:r>
                <a:rPr lang="zh-TW" altLang="en-US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、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Random Forest</a:t>
              </a:r>
            </a:p>
          </p:txBody>
        </p:sp>
        <p:sp>
          <p:nvSpPr>
            <p:cNvPr id="25" name="矩形: 圓角化對角角落 24">
              <a:extLst>
                <a:ext uri="{FF2B5EF4-FFF2-40B4-BE49-F238E27FC236}">
                  <a16:creationId xmlns:a16="http://schemas.microsoft.com/office/drawing/2014/main" id="{3230F4F0-F422-8B6D-AEED-FA5E341D700D}"/>
                </a:ext>
              </a:extLst>
            </p:cNvPr>
            <p:cNvSpPr/>
            <p:nvPr/>
          </p:nvSpPr>
          <p:spPr>
            <a:xfrm>
              <a:off x="708801" y="2154415"/>
              <a:ext cx="11227384" cy="1853880"/>
            </a:xfrm>
            <a:prstGeom prst="round2Diag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0769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0721-AE3E-3219-CE51-67959A69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C1932B5-A7C8-3E06-DE11-2746FD53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ABA89C-C8EE-42EC-FE2C-242316B2941D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2CAE70A-6020-FE07-0798-43BDB1BFB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6D272AC-355E-6BB3-32BB-56676CD981C1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6DA6EC-6D78-0683-BDFC-AD78DFE91367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12D72A-140B-A6E0-43AB-EF7B26989531}"/>
              </a:ext>
            </a:extLst>
          </p:cNvPr>
          <p:cNvSpPr txBox="1"/>
          <p:nvPr/>
        </p:nvSpPr>
        <p:spPr>
          <a:xfrm>
            <a:off x="6614808" y="650201"/>
            <a:ext cx="36086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Cleaning Process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EEA1AC0-C202-122E-A34A-D6B4462B3B7B}"/>
              </a:ext>
            </a:extLst>
          </p:cNvPr>
          <p:cNvGrpSpPr/>
          <p:nvPr/>
        </p:nvGrpSpPr>
        <p:grpSpPr>
          <a:xfrm>
            <a:off x="337214" y="1994444"/>
            <a:ext cx="4920374" cy="1374789"/>
            <a:chOff x="708801" y="2154415"/>
            <a:chExt cx="11443215" cy="649692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E31F192C-C399-6CDA-F4EE-78E61FFAF41A}"/>
                </a:ext>
              </a:extLst>
            </p:cNvPr>
            <p:cNvSpPr txBox="1"/>
            <p:nvPr/>
          </p:nvSpPr>
          <p:spPr>
            <a:xfrm>
              <a:off x="924633" y="2261089"/>
              <a:ext cx="11227383" cy="4363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18,696 rows (delete duplicate)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X='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desired_industry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’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Y='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skillup_training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', '</a:t>
              </a:r>
              <a:r>
                <a:rPr lang="en-US" altLang="zh-TW" dirty="0" err="1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skillup_find_new_job</a:t>
              </a: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’</a:t>
              </a:r>
            </a:p>
          </p:txBody>
        </p:sp>
        <p:sp>
          <p:nvSpPr>
            <p:cNvPr id="18" name="矩形: 圓角化對角角落 17">
              <a:extLst>
                <a:ext uri="{FF2B5EF4-FFF2-40B4-BE49-F238E27FC236}">
                  <a16:creationId xmlns:a16="http://schemas.microsoft.com/office/drawing/2014/main" id="{449F2A68-8DC0-15A3-B843-7B3BF05B49B2}"/>
                </a:ext>
              </a:extLst>
            </p:cNvPr>
            <p:cNvSpPr/>
            <p:nvPr/>
          </p:nvSpPr>
          <p:spPr>
            <a:xfrm>
              <a:off x="708801" y="2154415"/>
              <a:ext cx="11227383" cy="649692"/>
            </a:xfrm>
            <a:prstGeom prst="round2Diag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0E68D51-E17E-FF52-B501-3AB7C367A27B}"/>
              </a:ext>
            </a:extLst>
          </p:cNvPr>
          <p:cNvSpPr txBox="1"/>
          <p:nvPr/>
        </p:nvSpPr>
        <p:spPr>
          <a:xfrm>
            <a:off x="6215107" y="1445182"/>
            <a:ext cx="4492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 err="1">
                <a:solidFill>
                  <a:srgbClr val="009DA6"/>
                </a:solidFill>
              </a:rPr>
              <a:t>WAP_individual</a:t>
            </a:r>
            <a:endParaRPr lang="zh-TW" altLang="en-US" dirty="0">
              <a:solidFill>
                <a:srgbClr val="009DA6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480B36-5DDB-5E4F-02EB-19BA3EB9B273}"/>
              </a:ext>
            </a:extLst>
          </p:cNvPr>
          <p:cNvSpPr txBox="1"/>
          <p:nvPr/>
        </p:nvSpPr>
        <p:spPr>
          <a:xfrm>
            <a:off x="407232" y="1439025"/>
            <a:ext cx="4492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 err="1">
                <a:solidFill>
                  <a:srgbClr val="009DA6"/>
                </a:solidFill>
              </a:rPr>
              <a:t>WAP_pulse_survey</a:t>
            </a:r>
            <a:endParaRPr lang="zh-TW" altLang="en-US" dirty="0">
              <a:solidFill>
                <a:srgbClr val="009DA6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EB20DEA-6F99-AF7C-90BD-9FDD82761A2F}"/>
              </a:ext>
            </a:extLst>
          </p:cNvPr>
          <p:cNvGrpSpPr/>
          <p:nvPr/>
        </p:nvGrpSpPr>
        <p:grpSpPr>
          <a:xfrm>
            <a:off x="6215107" y="2003243"/>
            <a:ext cx="5571645" cy="2717613"/>
            <a:chOff x="708801" y="2154415"/>
            <a:chExt cx="11227383" cy="1284278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FD9C079-D984-396E-4218-3A7EA74C61FA}"/>
                </a:ext>
              </a:extLst>
            </p:cNvPr>
            <p:cNvSpPr txBox="1"/>
            <p:nvPr/>
          </p:nvSpPr>
          <p:spPr>
            <a:xfrm>
              <a:off x="924634" y="2261089"/>
              <a:ext cx="10597406" cy="1090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18,696 rows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X='rural_type','myPathCompleted','preferredRegion','preferredRegionGroup','educationAndWorkExperience','workExperienceGroup','race','highestEducationLevel','latestSalary','targetSalary','completed_career_milestone','completed_jobs_milestone','completed_training_milestone','gender_3','age'</a:t>
              </a:r>
            </a:p>
          </p:txBody>
        </p:sp>
        <p:sp>
          <p:nvSpPr>
            <p:cNvPr id="10" name="矩形: 圓角化對角角落 9">
              <a:extLst>
                <a:ext uri="{FF2B5EF4-FFF2-40B4-BE49-F238E27FC236}">
                  <a16:creationId xmlns:a16="http://schemas.microsoft.com/office/drawing/2014/main" id="{9DBF5CAC-4F2F-3731-5F7A-B6BC07A84F1A}"/>
                </a:ext>
              </a:extLst>
            </p:cNvPr>
            <p:cNvSpPr/>
            <p:nvPr/>
          </p:nvSpPr>
          <p:spPr>
            <a:xfrm>
              <a:off x="708801" y="2154415"/>
              <a:ext cx="11227383" cy="1284278"/>
            </a:xfrm>
            <a:prstGeom prst="round2Diag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9C9E729B-6A27-1CB3-5350-1CB32374868F}"/>
              </a:ext>
            </a:extLst>
          </p:cNvPr>
          <p:cNvCxnSpPr>
            <a:cxnSpLocks/>
            <a:stCxn id="18" idx="0"/>
          </p:cNvCxnSpPr>
          <p:nvPr/>
        </p:nvCxnSpPr>
        <p:spPr>
          <a:xfrm>
            <a:off x="5164784" y="2681839"/>
            <a:ext cx="1050323" cy="0"/>
          </a:xfrm>
          <a:prstGeom prst="line">
            <a:avLst/>
          </a:prstGeom>
          <a:ln>
            <a:solidFill>
              <a:srgbClr val="06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11FDC5-4787-B7B1-E78C-F2A8BA157F46}"/>
              </a:ext>
            </a:extLst>
          </p:cNvPr>
          <p:cNvSpPr txBox="1"/>
          <p:nvPr/>
        </p:nvSpPr>
        <p:spPr>
          <a:xfrm>
            <a:off x="5239993" y="2249235"/>
            <a:ext cx="12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063348"/>
                </a:solidFill>
              </a:rPr>
              <a:t>WAP_id</a:t>
            </a:r>
            <a:endParaRPr lang="zh-TW" altLang="en-US" dirty="0">
              <a:solidFill>
                <a:srgbClr val="063348"/>
              </a:solidFill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4EBDE27F-5B68-FF03-AB7A-1DC4F987E286}"/>
              </a:ext>
            </a:extLst>
          </p:cNvPr>
          <p:cNvGrpSpPr/>
          <p:nvPr/>
        </p:nvGrpSpPr>
        <p:grpSpPr>
          <a:xfrm>
            <a:off x="337212" y="5020152"/>
            <a:ext cx="11092788" cy="1518762"/>
            <a:chOff x="708799" y="2154415"/>
            <a:chExt cx="16403579" cy="913986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B9DAF4DF-8B43-7E62-7245-2C686AD25539}"/>
                </a:ext>
              </a:extLst>
            </p:cNvPr>
            <p:cNvSpPr txBox="1"/>
            <p:nvPr/>
          </p:nvSpPr>
          <p:spPr>
            <a:xfrm>
              <a:off x="924633" y="2197377"/>
              <a:ext cx="16187745" cy="796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16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X=</a:t>
              </a:r>
            </a:p>
            <a:p>
              <a:pPr marL="627063" indent="-342900">
                <a:buFont typeface="+mj-lt"/>
                <a:buAutoNum type="arabicParenR"/>
              </a:pPr>
              <a:r>
                <a:rPr lang="en-US" altLang="zh-TW" sz="1600" dirty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How many times did the seeker connect to the website in the 180 days before the survey? </a:t>
              </a:r>
              <a:r>
                <a:rPr lang="en-US" altLang="zh-TW" sz="16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(e.g. ‘Website Visits (Last 180 Days)’)</a:t>
              </a:r>
            </a:p>
            <a:p>
              <a:pPr marL="627063" indent="-342900">
                <a:buFont typeface="+mj-lt"/>
                <a:buAutoNum type="arabicParenR"/>
              </a:pPr>
              <a:r>
                <a:rPr lang="en-US" altLang="zh-TW" sz="1600" dirty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Did seekers engage in specific actions on the platform within the 180 days? </a:t>
              </a:r>
              <a:r>
                <a:rPr lang="en-US" altLang="zh-TW" sz="16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(e.g. ‘Training Clicked Apply’)</a:t>
              </a:r>
            </a:p>
            <a:p>
              <a:pPr marL="284163"/>
              <a:r>
                <a:rPr lang="en-US" altLang="zh-TW" sz="1600" dirty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    </a:t>
              </a:r>
              <a:r>
                <a:rPr lang="en-US" altLang="zh-TW" sz="1400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(Combine ‘</a:t>
              </a:r>
              <a:r>
                <a:rPr lang="en-US" altLang="zh-TW" sz="1400" dirty="0" err="1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collectionType</a:t>
              </a:r>
              <a:r>
                <a:rPr lang="en-US" altLang="zh-TW" sz="1400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’ and ‘</a:t>
              </a:r>
              <a:r>
                <a:rPr lang="en-US" altLang="zh-TW" sz="1400" dirty="0" err="1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eventName</a:t>
              </a:r>
              <a:r>
                <a:rPr lang="en-US" altLang="zh-TW" sz="1400" dirty="0">
                  <a:solidFill>
                    <a:schemeClr val="bg2">
                      <a:lumMod val="25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’ to identify seekers’ behaviors )</a:t>
              </a:r>
              <a:endParaRPr lang="en-US" altLang="zh-TW" sz="1600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31" name="矩形: 圓角化對角角落 30">
              <a:extLst>
                <a:ext uri="{FF2B5EF4-FFF2-40B4-BE49-F238E27FC236}">
                  <a16:creationId xmlns:a16="http://schemas.microsoft.com/office/drawing/2014/main" id="{B7223AE9-4F6F-C992-1160-1C2AA4D80A8A}"/>
                </a:ext>
              </a:extLst>
            </p:cNvPr>
            <p:cNvSpPr/>
            <p:nvPr/>
          </p:nvSpPr>
          <p:spPr>
            <a:xfrm>
              <a:off x="708799" y="2154415"/>
              <a:ext cx="16290896" cy="913986"/>
            </a:xfrm>
            <a:prstGeom prst="round2Diag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003D66A-736F-5C45-9CB8-DE763667515C}"/>
              </a:ext>
            </a:extLst>
          </p:cNvPr>
          <p:cNvSpPr txBox="1"/>
          <p:nvPr/>
        </p:nvSpPr>
        <p:spPr>
          <a:xfrm>
            <a:off x="337214" y="4537296"/>
            <a:ext cx="4492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 err="1">
                <a:solidFill>
                  <a:srgbClr val="009DA6"/>
                </a:solidFill>
              </a:rPr>
              <a:t>WAP_all_time_connect</a:t>
            </a:r>
            <a:endParaRPr lang="zh-TW" altLang="en-US" dirty="0">
              <a:solidFill>
                <a:srgbClr val="009DA6"/>
              </a:solidFill>
            </a:endParaRP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07E9874-2A93-2AC0-6547-C69ABC1C04A7}"/>
              </a:ext>
            </a:extLst>
          </p:cNvPr>
          <p:cNvCxnSpPr>
            <a:cxnSpLocks/>
          </p:cNvCxnSpPr>
          <p:nvPr/>
        </p:nvCxnSpPr>
        <p:spPr>
          <a:xfrm>
            <a:off x="4686300" y="3355795"/>
            <a:ext cx="0" cy="1664355"/>
          </a:xfrm>
          <a:prstGeom prst="line">
            <a:avLst/>
          </a:prstGeom>
          <a:ln>
            <a:solidFill>
              <a:srgbClr val="06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D512E48-9860-5E7E-8AA9-63FE1CD05CCF}"/>
              </a:ext>
            </a:extLst>
          </p:cNvPr>
          <p:cNvSpPr txBox="1"/>
          <p:nvPr/>
        </p:nvSpPr>
        <p:spPr>
          <a:xfrm>
            <a:off x="1445958" y="3529372"/>
            <a:ext cx="3383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063348"/>
                </a:solidFill>
              </a:rPr>
              <a:t>WAP_id</a:t>
            </a:r>
            <a:r>
              <a:rPr lang="en-US" altLang="zh-TW" dirty="0">
                <a:solidFill>
                  <a:srgbClr val="063348"/>
                </a:solidFill>
              </a:rPr>
              <a:t>, </a:t>
            </a:r>
            <a:r>
              <a:rPr lang="en-US" altLang="zh-TW" dirty="0" err="1">
                <a:solidFill>
                  <a:srgbClr val="063348"/>
                </a:solidFill>
              </a:rPr>
              <a:t>survey_date</a:t>
            </a:r>
            <a:r>
              <a:rPr lang="en-US" altLang="zh-TW" dirty="0">
                <a:solidFill>
                  <a:srgbClr val="063348"/>
                </a:solidFill>
              </a:rPr>
              <a:t>&gt;=createdAt+180</a:t>
            </a:r>
            <a:endParaRPr lang="zh-TW" altLang="en-US" dirty="0">
              <a:solidFill>
                <a:srgbClr val="0633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3BD3D4-271F-D016-0A7C-6F33C113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6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10F4EE-34E5-B1A3-0636-8421A0F6394D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69B759-4173-F1B0-3088-B2A6C281F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993B4BE-A97E-BDC5-8889-97AFAD8BF7C5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FF252F-3972-7A1C-41BE-EE7CB68AB0DB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60941A-957D-B8F6-78AF-675ECA4E2CA6}"/>
              </a:ext>
            </a:extLst>
          </p:cNvPr>
          <p:cNvSpPr txBox="1"/>
          <p:nvPr/>
        </p:nvSpPr>
        <p:spPr>
          <a:xfrm>
            <a:off x="6614808" y="650201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955288A-1479-F0A1-1F90-54907EF8C255}"/>
              </a:ext>
            </a:extLst>
          </p:cNvPr>
          <p:cNvSpPr txBox="1"/>
          <p:nvPr/>
        </p:nvSpPr>
        <p:spPr>
          <a:xfrm>
            <a:off x="553158" y="1450977"/>
            <a:ext cx="7219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Chi-Square Test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4D1F953-F693-69B1-6423-32C8CFA272A4}"/>
              </a:ext>
            </a:extLst>
          </p:cNvPr>
          <p:cNvSpPr txBox="1"/>
          <p:nvPr/>
        </p:nvSpPr>
        <p:spPr>
          <a:xfrm>
            <a:off x="553158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Training</a:t>
            </a:r>
            <a:endParaRPr lang="en-US" altLang="zh-TW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E336973-72F0-300B-50EB-C795761B8D0E}"/>
              </a:ext>
            </a:extLst>
          </p:cNvPr>
          <p:cNvSpPr txBox="1"/>
          <p:nvPr/>
        </p:nvSpPr>
        <p:spPr>
          <a:xfrm>
            <a:off x="894465" y="2171153"/>
            <a:ext cx="520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Did you find the training program through </a:t>
            </a:r>
            <a:r>
              <a:rPr lang="en-US" altLang="zh-TW" sz="16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? </a:t>
            </a:r>
          </a:p>
        </p:txBody>
      </p:sp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0499D2CB-5466-65EF-6DA3-3263BACC0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369658"/>
              </p:ext>
            </p:extLst>
          </p:nvPr>
        </p:nvGraphicFramePr>
        <p:xfrm>
          <a:off x="990237" y="2610823"/>
          <a:ext cx="1955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55849" imgH="635059" progId="Excel.Sheet.12">
                  <p:embed/>
                </p:oleObj>
              </mc:Choice>
              <mc:Fallback>
                <p:oleObj name="Worksheet" r:id="rId4" imgW="1955849" imgH="6350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237" y="2610823"/>
                        <a:ext cx="19558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A7F4329A-C9CD-487D-BB22-7E99FDE75FE8}"/>
              </a:ext>
            </a:extLst>
          </p:cNvPr>
          <p:cNvSpPr txBox="1"/>
          <p:nvPr/>
        </p:nvSpPr>
        <p:spPr>
          <a:xfrm>
            <a:off x="6273501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Find New Job</a:t>
            </a:r>
            <a:endParaRPr lang="en-US" altLang="zh-TW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49FE31B-CB08-5CF8-074F-A7C7B41519D7}"/>
              </a:ext>
            </a:extLst>
          </p:cNvPr>
          <p:cNvSpPr txBox="1"/>
          <p:nvPr/>
        </p:nvSpPr>
        <p:spPr>
          <a:xfrm>
            <a:off x="6614808" y="2171153"/>
            <a:ext cx="520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Did you find your new job through </a:t>
            </a:r>
            <a:r>
              <a:rPr lang="en-US" altLang="zh-TW" sz="16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?</a:t>
            </a:r>
          </a:p>
        </p:txBody>
      </p:sp>
      <p:graphicFrame>
        <p:nvGraphicFramePr>
          <p:cNvPr id="20" name="物件 19">
            <a:extLst>
              <a:ext uri="{FF2B5EF4-FFF2-40B4-BE49-F238E27FC236}">
                <a16:creationId xmlns:a16="http://schemas.microsoft.com/office/drawing/2014/main" id="{A0103A3B-80B7-4336-B624-3BC7600CF6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663974"/>
              </p:ext>
            </p:extLst>
          </p:nvPr>
        </p:nvGraphicFramePr>
        <p:xfrm>
          <a:off x="6702424" y="2591079"/>
          <a:ext cx="21399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140110" imgH="635059" progId="Excel.Sheet.12">
                  <p:embed/>
                </p:oleObj>
              </mc:Choice>
              <mc:Fallback>
                <p:oleObj name="Worksheet" r:id="rId6" imgW="2140110" imgH="6350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02424" y="2591079"/>
                        <a:ext cx="213995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物件 22">
            <a:extLst>
              <a:ext uri="{FF2B5EF4-FFF2-40B4-BE49-F238E27FC236}">
                <a16:creationId xmlns:a16="http://schemas.microsoft.com/office/drawing/2014/main" id="{079498C8-56BF-6416-1D4E-654975841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364430"/>
              </p:ext>
            </p:extLst>
          </p:nvPr>
        </p:nvGraphicFramePr>
        <p:xfrm>
          <a:off x="3090601" y="2610823"/>
          <a:ext cx="2398976" cy="3534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702186" imgH="5454687" progId="Excel.Sheet.12">
                  <p:embed/>
                </p:oleObj>
              </mc:Choice>
              <mc:Fallback>
                <p:oleObj name="Worksheet" r:id="rId8" imgW="3702186" imgH="545468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90601" y="2610823"/>
                        <a:ext cx="2398976" cy="3534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物件 23">
            <a:extLst>
              <a:ext uri="{FF2B5EF4-FFF2-40B4-BE49-F238E27FC236}">
                <a16:creationId xmlns:a16="http://schemas.microsoft.com/office/drawing/2014/main" id="{AF193BA7-274D-B17C-43D2-72B6E3936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316201"/>
              </p:ext>
            </p:extLst>
          </p:nvPr>
        </p:nvGraphicFramePr>
        <p:xfrm>
          <a:off x="8948632" y="2579825"/>
          <a:ext cx="2419719" cy="3565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702186" imgH="5454687" progId="Excel.Sheet.12">
                  <p:embed/>
                </p:oleObj>
              </mc:Choice>
              <mc:Fallback>
                <p:oleObj name="Worksheet" r:id="rId10" imgW="3702186" imgH="545468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48632" y="2579825"/>
                        <a:ext cx="2419719" cy="3565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17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EAA5-EB7C-A207-7984-E0DA3EE2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8D41BE1-ECCD-E2A6-88C6-C10CF210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7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74C171-0FA5-9323-82AC-3A2C88DECE81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7C6DE22-1F76-97A9-C0A7-EC2AD839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0972224-B517-E53D-03A6-BEDD21772246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2E0D54-5F0F-D2EE-A07B-45BC542FB09C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4D8915-5A20-A146-A468-BBA95B722122}"/>
              </a:ext>
            </a:extLst>
          </p:cNvPr>
          <p:cNvSpPr txBox="1"/>
          <p:nvPr/>
        </p:nvSpPr>
        <p:spPr>
          <a:xfrm>
            <a:off x="6614808" y="650201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2FF4F1-8C13-3390-00D1-7C96463C435D}"/>
              </a:ext>
            </a:extLst>
          </p:cNvPr>
          <p:cNvSpPr txBox="1"/>
          <p:nvPr/>
        </p:nvSpPr>
        <p:spPr>
          <a:xfrm>
            <a:off x="553158" y="1450977"/>
            <a:ext cx="7219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Correlation analysis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2C3EEF4-3616-F13B-F585-BB8A369F3257}"/>
              </a:ext>
            </a:extLst>
          </p:cNvPr>
          <p:cNvSpPr txBox="1"/>
          <p:nvPr/>
        </p:nvSpPr>
        <p:spPr>
          <a:xfrm>
            <a:off x="894465" y="2171153"/>
            <a:ext cx="520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Did you find the training program through </a:t>
            </a:r>
            <a:r>
              <a:rPr lang="en-US" altLang="zh-TW" sz="16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? 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74F58CE-0463-6064-87A0-5ECCA3BA755F}"/>
              </a:ext>
            </a:extLst>
          </p:cNvPr>
          <p:cNvSpPr txBox="1"/>
          <p:nvPr/>
        </p:nvSpPr>
        <p:spPr>
          <a:xfrm>
            <a:off x="6614808" y="2171153"/>
            <a:ext cx="520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Did you find your new job through </a:t>
            </a:r>
            <a:r>
              <a:rPr lang="en-US" altLang="zh-TW" sz="16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?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EC993A-CA29-1643-E45F-F68484CD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39" y="2664987"/>
            <a:ext cx="5507341" cy="3366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0F6102E-3295-1653-24E8-15FDE2E0B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501" y="2682581"/>
            <a:ext cx="5507341" cy="33666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1EBD9D6-274B-1FFB-47A4-302B5EBC49DC}"/>
              </a:ext>
            </a:extLst>
          </p:cNvPr>
          <p:cNvSpPr txBox="1"/>
          <p:nvPr/>
        </p:nvSpPr>
        <p:spPr>
          <a:xfrm>
            <a:off x="553158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Training</a:t>
            </a:r>
            <a:endParaRPr lang="en-US" altLang="zh-TW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CE6F7A5-977C-1C12-7C42-C28C8A40D0F0}"/>
              </a:ext>
            </a:extLst>
          </p:cNvPr>
          <p:cNvSpPr txBox="1"/>
          <p:nvPr/>
        </p:nvSpPr>
        <p:spPr>
          <a:xfrm>
            <a:off x="6273501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Find New Job</a:t>
            </a:r>
            <a:endParaRPr lang="en-US" altLang="zh-TW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70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539D-9D5F-C967-C026-4D4A4DF4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F1C4EF-EF6F-A073-9565-E40BB226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8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74BD78-7027-C4CA-B09C-C5A5FF32E2C5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A9899E-3019-ACAF-BB1B-49BBC634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4174B9F-B1A4-A20C-38BA-B221DD00ADF9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A233B2-D7FA-9C84-EF02-3592DEA99583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35A82F-2FF8-CEDC-2097-59C634B2BB65}"/>
              </a:ext>
            </a:extLst>
          </p:cNvPr>
          <p:cNvSpPr txBox="1"/>
          <p:nvPr/>
        </p:nvSpPr>
        <p:spPr>
          <a:xfrm>
            <a:off x="6614808" y="650201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ABC504-A47B-2E3B-6CF5-BA9B3F5B0E7F}"/>
              </a:ext>
            </a:extLst>
          </p:cNvPr>
          <p:cNvSpPr txBox="1"/>
          <p:nvPr/>
        </p:nvSpPr>
        <p:spPr>
          <a:xfrm>
            <a:off x="553158" y="1450977"/>
            <a:ext cx="7219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Prediction Model: </a:t>
            </a:r>
            <a:r>
              <a:rPr lang="en-US" altLang="zh-TW" sz="2000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Logistic Regression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ED6A647-39AC-E4A1-448A-6E0054871480}"/>
              </a:ext>
            </a:extLst>
          </p:cNvPr>
          <p:cNvSpPr txBox="1"/>
          <p:nvPr/>
        </p:nvSpPr>
        <p:spPr>
          <a:xfrm>
            <a:off x="553158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Training</a:t>
            </a:r>
            <a:endParaRPr lang="en-US" altLang="zh-TW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8CCF37D-6709-2A48-324B-7B00E16B08C3}"/>
              </a:ext>
            </a:extLst>
          </p:cNvPr>
          <p:cNvSpPr txBox="1"/>
          <p:nvPr/>
        </p:nvSpPr>
        <p:spPr>
          <a:xfrm>
            <a:off x="6273501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Find New Job</a:t>
            </a:r>
            <a:endParaRPr lang="en-US" altLang="zh-TW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9EAE2C3-566F-242A-6D2D-E1B984B2F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46" y="2402554"/>
            <a:ext cx="5285939" cy="38257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91E4BED-CED6-1566-5ACD-F2401ECF1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43" y="2402553"/>
            <a:ext cx="5429357" cy="3810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554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07A7-B6E9-A545-D6D9-63743964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AD98A36-39A2-FFB0-18BD-4010E4F8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9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8B7649-34C1-4689-3640-77E8657E087C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5FA787A-2DF5-EDC8-5D62-F45031F3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F6CCD28-69E3-6C68-A810-72BB83E45BB3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Methodologies &amp; Analysis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5D771F-AB29-F4F0-9C6D-87AAF31408F6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1431842-2F63-E32A-2E8D-BAE5D2F86993}"/>
              </a:ext>
            </a:extLst>
          </p:cNvPr>
          <p:cNvSpPr txBox="1"/>
          <p:nvPr/>
        </p:nvSpPr>
        <p:spPr>
          <a:xfrm>
            <a:off x="6614808" y="650201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AC35B1-B482-A97A-861E-2CCA7833FBBC}"/>
              </a:ext>
            </a:extLst>
          </p:cNvPr>
          <p:cNvSpPr txBox="1"/>
          <p:nvPr/>
        </p:nvSpPr>
        <p:spPr>
          <a:xfrm>
            <a:off x="553158" y="1450977"/>
            <a:ext cx="7219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Prediction Model: </a:t>
            </a:r>
            <a:r>
              <a:rPr lang="en-US" altLang="zh-TW" sz="2000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Random Forest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5AE0E59-079A-EB0A-9DAC-66382BFE802C}"/>
              </a:ext>
            </a:extLst>
          </p:cNvPr>
          <p:cNvSpPr txBox="1"/>
          <p:nvPr/>
        </p:nvSpPr>
        <p:spPr>
          <a:xfrm>
            <a:off x="553158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Training</a:t>
            </a:r>
            <a:endParaRPr lang="en-US" altLang="zh-TW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2FB239D-ECFD-DEA8-1483-D72E618287EB}"/>
              </a:ext>
            </a:extLst>
          </p:cNvPr>
          <p:cNvSpPr txBox="1"/>
          <p:nvPr/>
        </p:nvSpPr>
        <p:spPr>
          <a:xfrm>
            <a:off x="6273501" y="1882421"/>
            <a:ext cx="528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Outcome: </a:t>
            </a:r>
            <a:r>
              <a:rPr lang="en-US" altLang="zh-TW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Find New Job</a:t>
            </a:r>
            <a:endParaRPr lang="en-US" altLang="zh-TW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47330F6-4FA9-B227-D42B-7B6795410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53" y="2335738"/>
            <a:ext cx="5330436" cy="3746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EF22698-6DE4-8844-12DF-CE5239EFD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719" y="2335738"/>
            <a:ext cx="5448181" cy="37568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074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8640-24F3-F805-5299-B5B9C063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E57000-D864-A359-C0BD-5FB0999D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10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C4911A-4BAE-B859-BEC3-F663D4CD8B84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D761B5A-77A6-B00E-BE31-29D834C0B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02564EE-65C6-E12D-F34B-E1B41B550F88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Key findings &amp; insights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51F4B4-108A-FB7E-6BE5-E057169F1F26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98A8EF-5505-8EA7-D656-F118DEE31F3A}"/>
              </a:ext>
            </a:extLst>
          </p:cNvPr>
          <p:cNvSpPr txBox="1"/>
          <p:nvPr/>
        </p:nvSpPr>
        <p:spPr>
          <a:xfrm>
            <a:off x="810061" y="1790382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Training Participation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EB76FD65-B0CC-C623-6723-F6C267C6C088}"/>
              </a:ext>
            </a:extLst>
          </p:cNvPr>
          <p:cNvGrpSpPr/>
          <p:nvPr/>
        </p:nvGrpSpPr>
        <p:grpSpPr>
          <a:xfrm>
            <a:off x="586327" y="2162310"/>
            <a:ext cx="6817772" cy="2082635"/>
            <a:chOff x="605728" y="1971225"/>
            <a:chExt cx="3230238" cy="2082635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3B1A61B6-0719-AFB8-ED3B-0E803B4DC9E5}"/>
                </a:ext>
              </a:extLst>
            </p:cNvPr>
            <p:cNvSpPr/>
            <p:nvPr/>
          </p:nvSpPr>
          <p:spPr>
            <a:xfrm>
              <a:off x="605728" y="1971225"/>
              <a:ext cx="3108289" cy="208263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B3414127-B185-1FD6-F1AB-9BC4ED5C2DC8}"/>
                </a:ext>
              </a:extLst>
            </p:cNvPr>
            <p:cNvSpPr txBox="1"/>
            <p:nvPr/>
          </p:nvSpPr>
          <p:spPr>
            <a:xfrm>
              <a:off x="629044" y="2004921"/>
              <a:ext cx="3206922" cy="19941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Demographics</a:t>
              </a:r>
              <a:r>
                <a:rPr lang="en-US" altLang="zh-TW" sz="1400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Age, Race, Gender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Education &amp; Work Background</a:t>
              </a:r>
              <a:r>
                <a:rPr lang="en-US" altLang="zh-TW" sz="1400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Highest Education Level, Work Experience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Geographical Influence</a:t>
              </a:r>
              <a:r>
                <a:rPr lang="en-US" altLang="zh-TW" sz="1400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Preferred Region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Career &amp; Industry Factors</a:t>
              </a:r>
              <a:r>
                <a:rPr lang="en-US" altLang="zh-TW" sz="1400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Desired Industry,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Engagement </a:t>
              </a:r>
              <a:r>
                <a:rPr lang="en-US" altLang="zh-TW" sz="1400" dirty="0">
                  <a:solidFill>
                    <a:schemeClr val="accent2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Completed Training Milestone, Completed Jobs Milestone, Training Clicked Apply</a:t>
              </a: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D6E698B-F51F-3401-372D-9191197547B0}"/>
              </a:ext>
            </a:extLst>
          </p:cNvPr>
          <p:cNvSpPr txBox="1"/>
          <p:nvPr/>
        </p:nvSpPr>
        <p:spPr>
          <a:xfrm>
            <a:off x="553159" y="1468089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/>
              <a:t>Identify key success factors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90FE281-ABC5-BF8C-F329-3BBDA99ECCA2}"/>
              </a:ext>
            </a:extLst>
          </p:cNvPr>
          <p:cNvSpPr txBox="1"/>
          <p:nvPr/>
        </p:nvSpPr>
        <p:spPr>
          <a:xfrm>
            <a:off x="810060" y="4305000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TW" sz="1600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Finding a New Job through </a:t>
            </a:r>
            <a:r>
              <a:rPr lang="en-US" altLang="zh-TW" sz="1600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endParaRPr lang="en-US" altLang="zh-TW" sz="1600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CD98146-3210-81C8-7137-9081976EF7D3}"/>
              </a:ext>
            </a:extLst>
          </p:cNvPr>
          <p:cNvGrpSpPr/>
          <p:nvPr/>
        </p:nvGrpSpPr>
        <p:grpSpPr>
          <a:xfrm>
            <a:off x="553157" y="4614277"/>
            <a:ext cx="7689142" cy="2082635"/>
            <a:chOff x="605727" y="1971224"/>
            <a:chExt cx="8466097" cy="2082635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124EE493-C3C8-862F-4679-63636815B779}"/>
                </a:ext>
              </a:extLst>
            </p:cNvPr>
            <p:cNvSpPr/>
            <p:nvPr/>
          </p:nvSpPr>
          <p:spPr>
            <a:xfrm>
              <a:off x="605727" y="1971224"/>
              <a:ext cx="8466096" cy="20826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3124B4E-1233-29F2-1161-168C5C21B9E8}"/>
                </a:ext>
              </a:extLst>
            </p:cNvPr>
            <p:cNvSpPr txBox="1"/>
            <p:nvPr/>
          </p:nvSpPr>
          <p:spPr>
            <a:xfrm>
              <a:off x="683184" y="2015890"/>
              <a:ext cx="8388640" cy="19941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Demographics</a:t>
              </a:r>
              <a:r>
                <a:rPr lang="en-US" altLang="zh-TW" sz="1400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Age, Race, Gender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Education &amp; Work Background</a:t>
              </a:r>
              <a:r>
                <a:rPr lang="en-US" altLang="zh-TW" sz="1400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Highest Education Level, Work Experience, Latest Salary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Geographical Influence</a:t>
              </a:r>
              <a:r>
                <a:rPr lang="en-US" altLang="zh-TW" sz="1400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Preferred Region, Rural Type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Career &amp; Industry Factors</a:t>
              </a:r>
              <a:r>
                <a:rPr lang="en-US" altLang="zh-TW" sz="1400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Desired Industry</a:t>
              </a:r>
            </a:p>
            <a:p>
              <a:pPr marL="355600" indent="-2667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TW" sz="1400" b="1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Engagement </a:t>
              </a:r>
              <a:r>
                <a:rPr lang="en-US" altLang="zh-TW" sz="1400" dirty="0">
                  <a:solidFill>
                    <a:schemeClr val="accent5">
                      <a:lumMod val="50000"/>
                    </a:schemeClr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:  Completed Training Milestone, Jobs Clicked Apply, Careers Viewed Catalog Item, Training Saved Catalog Item</a:t>
              </a:r>
            </a:p>
          </p:txBody>
        </p:sp>
      </p:grp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89DF0E07-D77A-A196-FF34-A82568E3F75A}"/>
              </a:ext>
            </a:extLst>
          </p:cNvPr>
          <p:cNvSpPr/>
          <p:nvPr/>
        </p:nvSpPr>
        <p:spPr>
          <a:xfrm>
            <a:off x="8458548" y="1325658"/>
            <a:ext cx="3436985" cy="5049120"/>
          </a:xfrm>
          <a:prstGeom prst="wedgeRoundRectCallout">
            <a:avLst>
              <a:gd name="adj1" fmla="val -49552"/>
              <a:gd name="adj2" fmla="val -28214"/>
              <a:gd name="adj3" fmla="val 16667"/>
            </a:avLst>
          </a:prstGeom>
          <a:solidFill>
            <a:schemeClr val="bg1"/>
          </a:solidFill>
          <a:ln w="57150"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7F3EB28B-DA10-E80C-DE80-1CE2981FB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868">
            <a:off x="8167725" y="837452"/>
            <a:ext cx="804446" cy="804446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FE7458-10FD-3A0C-E90F-8F0C3B4EC725}"/>
              </a:ext>
            </a:extLst>
          </p:cNvPr>
          <p:cNvSpPr txBox="1"/>
          <p:nvPr/>
        </p:nvSpPr>
        <p:spPr>
          <a:xfrm>
            <a:off x="8652434" y="1546494"/>
            <a:ext cx="324309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✅ </a:t>
            </a:r>
            <a:r>
              <a:rPr lang="en-US" altLang="zh-TW" sz="1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Demographics &amp; Career Milestones Matter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– Age, race, gender, and completing key milestones (e.g., training, job applications) impact both training and job success.</a:t>
            </a:r>
          </a:p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✅ </a:t>
            </a:r>
            <a:r>
              <a:rPr lang="en-US" altLang="zh-TW" sz="1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Regional &amp; Industry Preferences Influence Outcomes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– Users in specific regions and industries (e.g., Technology, Healthcare) show higher training and job placement rates.</a:t>
            </a:r>
          </a:p>
          <a:p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✅ </a:t>
            </a:r>
            <a:r>
              <a:rPr lang="en-US" altLang="zh-TW" sz="1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Platform Engagement is Key</a:t>
            </a:r>
            <a:r>
              <a:rPr lang="en-US" altLang="zh-TW" sz="1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– Actions like applying for training, saving jobs, and interacting with career content boost both participation and job success.</a:t>
            </a:r>
          </a:p>
        </p:txBody>
      </p:sp>
    </p:spTree>
    <p:extLst>
      <p:ext uri="{BB962C8B-B14F-4D97-AF65-F5344CB8AC3E}">
        <p14:creationId xmlns:p14="http://schemas.microsoft.com/office/powerpoint/2010/main" val="325732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AC4E1-7C08-214F-63AB-E70F0AAC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022929-4D43-2800-F5A8-8090850A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11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F4496B-BE14-A82F-6908-C6FB0760D47A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24461A-33B5-801E-0128-FEB7D593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109893F-3144-8D86-998F-156AD3E23729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Key findings &amp; insights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02CF6A-6E16-3085-4DA7-5EBA42F4F2E6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EFE5E11-6D45-F13A-40BC-A09111862DC8}"/>
              </a:ext>
            </a:extLst>
          </p:cNvPr>
          <p:cNvSpPr txBox="1"/>
          <p:nvPr/>
        </p:nvSpPr>
        <p:spPr>
          <a:xfrm>
            <a:off x="553159" y="1468089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/>
              <a:t>Does Race Impact Career Milestones?</a:t>
            </a: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D0DA628C-E025-B657-F39F-CA81C8B82246}"/>
              </a:ext>
            </a:extLst>
          </p:cNvPr>
          <p:cNvSpPr/>
          <p:nvPr/>
        </p:nvSpPr>
        <p:spPr>
          <a:xfrm>
            <a:off x="940524" y="1949787"/>
            <a:ext cx="10794276" cy="1560618"/>
          </a:xfrm>
          <a:prstGeom prst="wedgeRoundRectCallout">
            <a:avLst>
              <a:gd name="adj1" fmla="val -49552"/>
              <a:gd name="adj2" fmla="val -28214"/>
              <a:gd name="adj3" fmla="val 16667"/>
            </a:avLst>
          </a:prstGeom>
          <a:solidFill>
            <a:srgbClr val="FFF2BD"/>
          </a:solidFill>
          <a:ln w="57150"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5D6D365-C53D-9872-28D1-2D43C2F07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868">
            <a:off x="291655" y="1834587"/>
            <a:ext cx="638931" cy="63893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30A243C-75FC-A182-5E57-34DB8580F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18" y="3703379"/>
            <a:ext cx="4832580" cy="2969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11F9C61-A0C3-D7EC-0326-A9672D3F2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918" y="3719621"/>
            <a:ext cx="4757364" cy="29685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FB95990-5C97-D6ED-0A74-1BF071D61D93}"/>
              </a:ext>
            </a:extLst>
          </p:cNvPr>
          <p:cNvSpPr txBox="1"/>
          <p:nvPr/>
        </p:nvSpPr>
        <p:spPr>
          <a:xfrm>
            <a:off x="1053303" y="2052683"/>
            <a:ext cx="105275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Training Participation Rate:</a:t>
            </a:r>
          </a:p>
          <a:p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Middle Eastern or North African (12.7%) and Native American or Alaskan / Native Hawaiian (10.9%) have the highest training participation </a:t>
            </a:r>
            <a:r>
              <a:rPr lang="en-US" altLang="zh-TW" sz="14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rates.White</a:t>
            </a:r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individuals (3.3%) have the lowest participation rate.</a:t>
            </a:r>
          </a:p>
          <a:p>
            <a:r>
              <a:rPr lang="en-US" altLang="zh-TW" sz="1400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Finding a Job Through </a:t>
            </a:r>
            <a:r>
              <a:rPr lang="en-US" altLang="zh-TW" sz="1400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400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:</a:t>
            </a:r>
          </a:p>
          <a:p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Middle Eastern or North African (8.7%) and Native American or Alaskan / Native Hawaiian (7.6%) have the highest job finding rates. White individuals (2.0%) have the lowest job finding rate.</a:t>
            </a:r>
          </a:p>
        </p:txBody>
      </p:sp>
    </p:spTree>
    <p:extLst>
      <p:ext uri="{BB962C8B-B14F-4D97-AF65-F5344CB8AC3E}">
        <p14:creationId xmlns:p14="http://schemas.microsoft.com/office/powerpoint/2010/main" val="213748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1DE7-707C-4F50-E19A-21FEAA66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74E314-D663-F09C-92D7-4E528F83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12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47121E-12D1-4BD6-4F63-2226667A09C1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87462BD-EF32-D0B6-5203-2CEAE28CD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E0809F-380A-C7BD-9784-7D505CF77802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Key findings &amp; insights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7CAF08-A16B-CFD0-D332-5AD5A5B8CB93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DAA5CFA-91CD-2439-C5DB-8070A990CE6C}"/>
              </a:ext>
            </a:extLst>
          </p:cNvPr>
          <p:cNvSpPr txBox="1"/>
          <p:nvPr/>
        </p:nvSpPr>
        <p:spPr>
          <a:xfrm>
            <a:off x="553159" y="1468089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/>
              <a:t>Does Race Impact Career Milestones?</a:t>
            </a: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CAA553C2-DF77-8447-1139-C7C13A6FC110}"/>
              </a:ext>
            </a:extLst>
          </p:cNvPr>
          <p:cNvSpPr/>
          <p:nvPr/>
        </p:nvSpPr>
        <p:spPr>
          <a:xfrm>
            <a:off x="940524" y="1949787"/>
            <a:ext cx="10794276" cy="1854948"/>
          </a:xfrm>
          <a:prstGeom prst="wedgeRoundRectCallout">
            <a:avLst>
              <a:gd name="adj1" fmla="val -49552"/>
              <a:gd name="adj2" fmla="val -28214"/>
              <a:gd name="adj3" fmla="val 16667"/>
            </a:avLst>
          </a:prstGeom>
          <a:solidFill>
            <a:srgbClr val="FFF2BD"/>
          </a:solidFill>
          <a:ln w="57150"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AA89EC5-45CB-738C-7ECC-39FD44F81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868">
            <a:off x="291655" y="1834587"/>
            <a:ext cx="638931" cy="63893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3644D80E-9AD8-327F-80C1-4870CABDDAB6}"/>
              </a:ext>
            </a:extLst>
          </p:cNvPr>
          <p:cNvSpPr txBox="1"/>
          <p:nvPr/>
        </p:nvSpPr>
        <p:spPr>
          <a:xfrm>
            <a:off x="1053303" y="2039983"/>
            <a:ext cx="105275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chemeClr val="accent2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Training Participation Rate:</a:t>
            </a:r>
          </a:p>
          <a:p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Training participation varies significantly based on the seeker’s desired job location. Washington, D.C. has a higher training participation rate, whereas locations like Seattle show a 0% participation rate, indicating no recorded engagement from seekers targeting those regions.</a:t>
            </a:r>
          </a:p>
          <a:p>
            <a:r>
              <a:rPr lang="en-US" altLang="zh-TW" sz="1400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Finding a Job Through </a:t>
            </a:r>
            <a:r>
              <a:rPr lang="en-US" altLang="zh-TW" sz="1400" b="1" dirty="0" err="1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400" b="1" dirty="0">
                <a:solidFill>
                  <a:schemeClr val="accent5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:</a:t>
            </a:r>
          </a:p>
          <a:p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Job attainment through </a:t>
            </a:r>
            <a:r>
              <a:rPr lang="en-US" altLang="zh-TW" sz="1400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sz="1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also differs by the seeker’s preferred job location. Some locations, such as Denver and Washington, D.C., have higher job placement rates, while others, like Seattle, show a 0% job placement rate, indicating no recorded job outcomes for seekers aiming to work there.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B07E4D1-CF21-D46E-4874-B34FFBB944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0" r="9103" b="1590"/>
          <a:stretch>
            <a:fillRect/>
          </a:stretch>
        </p:blipFill>
        <p:spPr>
          <a:xfrm>
            <a:off x="1053303" y="3952326"/>
            <a:ext cx="4771661" cy="2746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94C4269-0A92-C3F7-5E0D-705AA3FD28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33" t="839" r="7158" b="1721"/>
          <a:stretch>
            <a:fillRect/>
          </a:stretch>
        </p:blipFill>
        <p:spPr>
          <a:xfrm>
            <a:off x="6224769" y="3973007"/>
            <a:ext cx="4771661" cy="27357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448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7CFB-E08F-22B9-C83C-A8BDDAA1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DC044AB-4651-EEB9-DBB2-39FBE136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13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E4B448-4051-4F51-96DA-7766B2AE03BC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C0F2A4-33AD-6257-ADCE-E9B88FD1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840B73D-1377-0952-6D3D-1C8E27616B1D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Key findings &amp; insights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C860C0-ED0F-01D1-27B6-DD14E1C361BB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393D0C5-3FAC-627E-0799-D91DAF0F375F}"/>
              </a:ext>
            </a:extLst>
          </p:cNvPr>
          <p:cNvSpPr txBox="1"/>
          <p:nvPr/>
        </p:nvSpPr>
        <p:spPr>
          <a:xfrm>
            <a:off x="553159" y="1468089"/>
            <a:ext cx="5285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r>
              <a:rPr lang="en-US" altLang="zh-TW" dirty="0"/>
              <a:t>Typical User Journey to Success</a:t>
            </a: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A6FD11A8-0166-4E9E-8E17-CED1DC65452B}"/>
              </a:ext>
            </a:extLst>
          </p:cNvPr>
          <p:cNvSpPr/>
          <p:nvPr/>
        </p:nvSpPr>
        <p:spPr>
          <a:xfrm>
            <a:off x="940524" y="1949787"/>
            <a:ext cx="10794276" cy="1169551"/>
          </a:xfrm>
          <a:prstGeom prst="wedgeRoundRectCallout">
            <a:avLst>
              <a:gd name="adj1" fmla="val -49552"/>
              <a:gd name="adj2" fmla="val -28214"/>
              <a:gd name="adj3" fmla="val 16667"/>
            </a:avLst>
          </a:prstGeom>
          <a:solidFill>
            <a:srgbClr val="FFF2BD"/>
          </a:solidFill>
          <a:ln w="57150"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1FB6B13-2B9F-E76B-28A2-4C0276538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868">
            <a:off x="291655" y="1834587"/>
            <a:ext cx="638931" cy="63893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BE513E0-9FC5-1D83-BA79-F62BA561B9C6}"/>
              </a:ext>
            </a:extLst>
          </p:cNvPr>
          <p:cNvSpPr txBox="1"/>
          <p:nvPr/>
        </p:nvSpPr>
        <p:spPr>
          <a:xfrm>
            <a:off x="1053303" y="2065383"/>
            <a:ext cx="105275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Job and Training Application Activity Correlates with Success</a:t>
            </a:r>
          </a:p>
          <a:p>
            <a:r>
              <a:rPr lang="en-US" altLang="zh-TW" sz="1400" dirty="0"/>
              <a:t>Individuals who successfully found a job through </a:t>
            </a:r>
            <a:r>
              <a:rPr lang="en-US" altLang="zh-TW" sz="1400" dirty="0" err="1"/>
              <a:t>SkillUp</a:t>
            </a:r>
            <a:r>
              <a:rPr lang="en-US" altLang="zh-TW" sz="1400" dirty="0"/>
              <a:t> had a higher likelihood of engaging in job applications on the platform. Similarly, those who enrolled in training programs had a higher rate of training application clicks. This highlights the importance of active engagement in the application process for achieving career advancement.</a:t>
            </a:r>
            <a:endParaRPr lang="zh-TW" altLang="en-US" sz="1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9F89D57-3444-5BBC-8635-CA9A6E137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744" y="3347068"/>
            <a:ext cx="4934303" cy="31553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1D9F0E4-5BA0-B7F8-CE9C-DDEE042C9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201" y="3346391"/>
            <a:ext cx="5413678" cy="3186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175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EEAD-9B50-C040-5B84-F35E4414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A3CC61-0574-D4A1-E2D1-75C8FC12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14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5CD52D-18E4-A20B-9A69-B943B747BDED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F1F33D-16D4-E8A7-1F9C-9DFC4811E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1FF2C92-2620-00D4-DDFA-8CD35C74B326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Recommendations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36148D-1340-20CE-06CE-0F737DFD1DE7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5FABA4E-416B-2607-6362-36FD1E407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39" y="1726651"/>
            <a:ext cx="826438" cy="82643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D6CD7875-FFE0-C27E-02D0-815B10501709}"/>
              </a:ext>
            </a:extLst>
          </p:cNvPr>
          <p:cNvSpPr txBox="1"/>
          <p:nvPr/>
        </p:nvSpPr>
        <p:spPr>
          <a:xfrm>
            <a:off x="1695253" y="1653276"/>
            <a:ext cx="96809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Optimize User Engagement on the Platform</a:t>
            </a:r>
            <a:r>
              <a:rPr lang="zh-TW" altLang="en-US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：</a:t>
            </a:r>
            <a:r>
              <a:rPr lang="en-US" altLang="zh-TW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endParaRPr lang="en-US" altLang="zh-TW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Since both the frequency of website visits and specific interactions are key predictors of training participation and job success, </a:t>
            </a:r>
            <a:r>
              <a:rPr lang="en-US" altLang="zh-TW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should implement features that encourage consistent and meaningful engagement..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Implement </a:t>
            </a:r>
            <a:r>
              <a:rPr lang="en-US" altLang="zh-TW" b="1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reminder notifications</a:t>
            </a:r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for users who frequently visit the site but have not yet applied for training or jobs.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Provide a </a:t>
            </a:r>
            <a:r>
              <a:rPr lang="en-US" altLang="zh-TW" b="1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clear career progression roadmap</a:t>
            </a:r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for users, showing how different training and job applications contribute to their long-term goals.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E4AFD5B-BBBD-2FB6-B5DE-40F16196671C}"/>
              </a:ext>
            </a:extLst>
          </p:cNvPr>
          <p:cNvSpPr/>
          <p:nvPr/>
        </p:nvSpPr>
        <p:spPr>
          <a:xfrm>
            <a:off x="1650459" y="1558082"/>
            <a:ext cx="9703341" cy="2471034"/>
          </a:xfrm>
          <a:prstGeom prst="roundRect">
            <a:avLst>
              <a:gd name="adj" fmla="val 7720"/>
            </a:avLst>
          </a:prstGeom>
          <a:noFill/>
          <a:ln w="28575">
            <a:solidFill>
              <a:srgbClr val="009DA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C0AEA46-DFC9-0B2F-0D83-6BD06009D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73" y="4022024"/>
            <a:ext cx="994575" cy="994575"/>
          </a:xfrm>
          <a:prstGeom prst="rect">
            <a:avLst/>
          </a:prstGeom>
        </p:spPr>
      </p:pic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91D51A9-4EDC-D01B-D46E-6D8F18FBC680}"/>
              </a:ext>
            </a:extLst>
          </p:cNvPr>
          <p:cNvSpPr/>
          <p:nvPr/>
        </p:nvSpPr>
        <p:spPr>
          <a:xfrm>
            <a:off x="1628061" y="4186054"/>
            <a:ext cx="9703341" cy="1138421"/>
          </a:xfrm>
          <a:prstGeom prst="roundRect">
            <a:avLst>
              <a:gd name="adj" fmla="val 7720"/>
            </a:avLst>
          </a:prstGeom>
          <a:noFill/>
          <a:ln w="28575">
            <a:solidFill>
              <a:srgbClr val="009DA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6A3A7E6-D24F-D430-BA33-E97646DF8225}"/>
              </a:ext>
            </a:extLst>
          </p:cNvPr>
          <p:cNvSpPr txBox="1"/>
          <p:nvPr/>
        </p:nvSpPr>
        <p:spPr>
          <a:xfrm>
            <a:off x="1672856" y="4266431"/>
            <a:ext cx="9680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Consider Regional and Industry-Specific Strategies</a:t>
            </a:r>
            <a:r>
              <a:rPr lang="zh-TW" altLang="en-US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：</a:t>
            </a:r>
            <a:endParaRPr lang="en-US" altLang="zh-TW" b="1" dirty="0">
              <a:solidFill>
                <a:srgbClr val="009DA6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Tailor </a:t>
            </a:r>
            <a:r>
              <a:rPr lang="en-US" altLang="zh-TW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SkillUp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programs to align with the unique demands of different regions and industries to maximize effectiveness.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615289F7-258C-5C6C-3222-005DFD3D8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17" y="5626847"/>
            <a:ext cx="635000" cy="635000"/>
          </a:xfrm>
          <a:prstGeom prst="rect">
            <a:avLst/>
          </a:prstGeom>
        </p:spPr>
      </p:pic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119618A-A549-A96C-41BA-9CEB68F13718}"/>
              </a:ext>
            </a:extLst>
          </p:cNvPr>
          <p:cNvSpPr/>
          <p:nvPr/>
        </p:nvSpPr>
        <p:spPr>
          <a:xfrm>
            <a:off x="1598038" y="5561790"/>
            <a:ext cx="9703341" cy="1138421"/>
          </a:xfrm>
          <a:prstGeom prst="roundRect">
            <a:avLst>
              <a:gd name="adj" fmla="val 7720"/>
            </a:avLst>
          </a:prstGeom>
          <a:noFill/>
          <a:ln w="28575">
            <a:solidFill>
              <a:srgbClr val="009DA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74861C8-1568-E043-73D7-18BF367F9CB7}"/>
              </a:ext>
            </a:extLst>
          </p:cNvPr>
          <p:cNvSpPr txBox="1"/>
          <p:nvPr/>
        </p:nvSpPr>
        <p:spPr>
          <a:xfrm>
            <a:off x="1695253" y="5657370"/>
            <a:ext cx="9680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Targeted Training and Employment Support for High-Success Industries</a:t>
            </a:r>
            <a:r>
              <a:rPr lang="zh-TW" altLang="en-US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：</a:t>
            </a:r>
            <a:endParaRPr lang="en-US" altLang="zh-TW" b="1" dirty="0">
              <a:solidFill>
                <a:srgbClr val="009DA6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Given the higher job success rates in Technology and Healthcare, prioritizing skill development and career advancement initiatives in these sectors will yield better outcomes.</a:t>
            </a:r>
          </a:p>
        </p:txBody>
      </p:sp>
    </p:spTree>
    <p:extLst>
      <p:ext uri="{BB962C8B-B14F-4D97-AF65-F5344CB8AC3E}">
        <p14:creationId xmlns:p14="http://schemas.microsoft.com/office/powerpoint/2010/main" val="215931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F5B8-6139-B312-6BEC-1B22CA33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3531236-3847-C39F-48DA-EF64E692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15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77EB93-92AE-27C3-5FED-AFF9B9A42D73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A52B5F-5E49-E9D6-F168-8324B37E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067FA33-0AB0-4FDB-080B-6784CC9973D6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Appendix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9D168A-2456-405F-436D-EC61CB5784F2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9B9DFEC-CA69-DF2A-5282-67A3FA4171AC}"/>
              </a:ext>
            </a:extLst>
          </p:cNvPr>
          <p:cNvSpPr txBox="1"/>
          <p:nvPr/>
        </p:nvSpPr>
        <p:spPr>
          <a:xfrm>
            <a:off x="2665379" y="657128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7594F0D-AFF9-93E6-399F-5CD525745FD4}"/>
              </a:ext>
            </a:extLst>
          </p:cNvPr>
          <p:cNvSpPr txBox="1"/>
          <p:nvPr/>
        </p:nvSpPr>
        <p:spPr>
          <a:xfrm>
            <a:off x="553158" y="1450977"/>
            <a:ext cx="11085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</a:rPr>
              <a:t>Heatmap-Analyzing Significant Factors Affecting </a:t>
            </a:r>
            <a:r>
              <a:rPr lang="en-US" altLang="zh-TW" sz="2000" b="1" dirty="0">
                <a:solidFill>
                  <a:schemeClr val="accent2"/>
                </a:solidFill>
              </a:rPr>
              <a:t>Training Participation</a:t>
            </a:r>
            <a:endParaRPr lang="en-US" altLang="zh-TW" sz="2000" b="1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0954AA4-93FE-B421-C4CF-56219A518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267" y="4475001"/>
            <a:ext cx="3129095" cy="2263775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CD38E02-085A-6C5B-65C3-7B646574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131" y="1979916"/>
            <a:ext cx="3129095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BD6A7CC-B386-1C70-66B5-9345EC780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287" y="4521842"/>
            <a:ext cx="3112691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97F370A1-B925-7AEA-B416-D833B2946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882" y="1979915"/>
            <a:ext cx="2743597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C6CAE2F4-3085-646F-6CC9-E74674711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46" y="1997221"/>
            <a:ext cx="2694384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64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DDBF-02C2-5B25-44E9-0CAF4B7F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78970A-C28D-89AF-66CA-EB38094C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16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109E7A-C414-15BB-1004-09F206B4030C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71BC9A-1EBC-3479-06D4-F945C8A7D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895308A-E790-2BF5-9125-C3F12C23A7B8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Appendix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10D1BC-F0C2-15A8-A1C6-367BFB2F028E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79A09A-37BA-CBF4-E0A6-0BC9E3F5231A}"/>
              </a:ext>
            </a:extLst>
          </p:cNvPr>
          <p:cNvSpPr txBox="1"/>
          <p:nvPr/>
        </p:nvSpPr>
        <p:spPr>
          <a:xfrm>
            <a:off x="2665379" y="657128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A1FFEF6-DB2E-C214-5F6F-296D3364913D}"/>
              </a:ext>
            </a:extLst>
          </p:cNvPr>
          <p:cNvSpPr txBox="1"/>
          <p:nvPr/>
        </p:nvSpPr>
        <p:spPr>
          <a:xfrm>
            <a:off x="553158" y="1450977"/>
            <a:ext cx="11085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</a:rPr>
              <a:t>Heatmap-Analyzing Significant Factors Affecting </a:t>
            </a:r>
            <a:r>
              <a:rPr lang="en-US" altLang="zh-TW" sz="2000" b="1" dirty="0">
                <a:solidFill>
                  <a:schemeClr val="accent2"/>
                </a:solidFill>
              </a:rPr>
              <a:t>Training Participation</a:t>
            </a:r>
            <a:endParaRPr lang="en-US" altLang="zh-TW" sz="2000" b="1" dirty="0">
              <a:solidFill>
                <a:schemeClr val="accent2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D7A03A-56FF-753D-6D91-E5291B1DE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57700"/>
            <a:ext cx="3042973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5F3E2B6-0880-76CE-C303-BABD3D22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196" y="2143135"/>
            <a:ext cx="3104489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CB59838-5578-2AA6-2706-736C68A7F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139" y="4457700"/>
            <a:ext cx="2862527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42F12FF-3381-E509-0F06-22AC59135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422" y="2127149"/>
            <a:ext cx="3104489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AEA6129-1F1D-D2E2-641F-96B091580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339" y="2143135"/>
            <a:ext cx="2743597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81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421D-26B4-F18C-BA91-840E6F74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5DBE294-5910-DEFE-155A-3526C430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6FE0-CB35-462D-A64B-E009F4443811}" type="slidenum">
              <a:rPr lang="zh-TW" altLang="en-US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17</a:t>
            </a:fld>
            <a:endParaRPr lang="zh-TW" altLang="en-US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56CD82-FC1E-644E-D086-79BB9BD007FE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8609F5-72CD-E74D-831C-5FF8DBF08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1662084-DB4D-92D5-CB96-E77E20536814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Appendix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EA06B2-32C4-B969-8730-789F28CD3489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A7399E-791B-F245-EBD0-B42D6971FA60}"/>
              </a:ext>
            </a:extLst>
          </p:cNvPr>
          <p:cNvSpPr txBox="1"/>
          <p:nvPr/>
        </p:nvSpPr>
        <p:spPr>
          <a:xfrm>
            <a:off x="2665379" y="657128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9781E60-6A80-D229-6987-C594CC2614F3}"/>
              </a:ext>
            </a:extLst>
          </p:cNvPr>
          <p:cNvSpPr txBox="1"/>
          <p:nvPr/>
        </p:nvSpPr>
        <p:spPr>
          <a:xfrm>
            <a:off x="553158" y="1450977"/>
            <a:ext cx="11085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</a:rPr>
              <a:t>Heatmap-Analyzing Significant Factors Affecting </a:t>
            </a:r>
            <a:r>
              <a:rPr lang="en-US" altLang="zh-TW" sz="2000" b="1" dirty="0">
                <a:solidFill>
                  <a:schemeClr val="accent5"/>
                </a:solidFill>
              </a:rPr>
              <a:t>Finding New Job Rate</a:t>
            </a:r>
            <a:endParaRPr lang="en-US" altLang="zh-TW" sz="2000" b="1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8" name="Picture 18">
            <a:extLst>
              <a:ext uri="{FF2B5EF4-FFF2-40B4-BE49-F238E27FC236}">
                <a16:creationId xmlns:a16="http://schemas.microsoft.com/office/drawing/2014/main" id="{5041727F-8936-E655-0E6C-AAE336FC2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803" y="4421082"/>
            <a:ext cx="2720561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>
            <a:extLst>
              <a:ext uri="{FF2B5EF4-FFF2-40B4-BE49-F238E27FC236}">
                <a16:creationId xmlns:a16="http://schemas.microsoft.com/office/drawing/2014/main" id="{6C2702D8-7CD2-F786-790B-9040272B5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062" y="4411792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2">
            <a:extLst>
              <a:ext uri="{FF2B5EF4-FFF2-40B4-BE49-F238E27FC236}">
                <a16:creationId xmlns:a16="http://schemas.microsoft.com/office/drawing/2014/main" id="{81D91D2C-0C08-E88F-233E-445785D1F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489" y="4411792"/>
            <a:ext cx="2858826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4">
            <a:extLst>
              <a:ext uri="{FF2B5EF4-FFF2-40B4-BE49-F238E27FC236}">
                <a16:creationId xmlns:a16="http://schemas.microsoft.com/office/drawing/2014/main" id="{288A12D5-F8A6-E949-6127-862EA832D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0" y="4411792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6">
            <a:extLst>
              <a:ext uri="{FF2B5EF4-FFF2-40B4-BE49-F238E27FC236}">
                <a16:creationId xmlns:a16="http://schemas.microsoft.com/office/drawing/2014/main" id="{86AF4847-9089-DA5B-E4AE-17A5B8608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602" y="1978037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8">
            <a:extLst>
              <a:ext uri="{FF2B5EF4-FFF2-40B4-BE49-F238E27FC236}">
                <a16:creationId xmlns:a16="http://schemas.microsoft.com/office/drawing/2014/main" id="{0286C93E-7848-FA4E-8BF4-36E98477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62" y="1978037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0">
            <a:extLst>
              <a:ext uri="{FF2B5EF4-FFF2-40B4-BE49-F238E27FC236}">
                <a16:creationId xmlns:a16="http://schemas.microsoft.com/office/drawing/2014/main" id="{30311557-5CA5-4953-D1D3-9E8F387F9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021" y="1978037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2">
            <a:extLst>
              <a:ext uri="{FF2B5EF4-FFF2-40B4-BE49-F238E27FC236}">
                <a16:creationId xmlns:a16="http://schemas.microsoft.com/office/drawing/2014/main" id="{83523BD6-8313-C43C-1BA0-8DD7E650D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0" y="1978037"/>
            <a:ext cx="2671762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479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AAAB-870E-F0FE-7670-DEF90803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4E4E63-9CC4-1D55-D140-B119BA679D90}"/>
              </a:ext>
            </a:extLst>
          </p:cNvPr>
          <p:cNvSpPr/>
          <p:nvPr/>
        </p:nvSpPr>
        <p:spPr>
          <a:xfrm rot="5400000">
            <a:off x="11159768" y="-184684"/>
            <a:ext cx="64642" cy="14881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2BE595-638D-560E-1FE8-7FA05380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93" y="169839"/>
            <a:ext cx="1488192" cy="3010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1F12613-8A15-69D7-95EF-45ECBD31149C}"/>
              </a:ext>
            </a:extLst>
          </p:cNvPr>
          <p:cNvSpPr txBox="1"/>
          <p:nvPr/>
        </p:nvSpPr>
        <p:spPr>
          <a:xfrm>
            <a:off x="553159" y="527091"/>
            <a:ext cx="6593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063348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Appendix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6AD573-3ADF-E0B3-6C9A-9D9182F7C4BD}"/>
              </a:ext>
            </a:extLst>
          </p:cNvPr>
          <p:cNvSpPr/>
          <p:nvPr/>
        </p:nvSpPr>
        <p:spPr>
          <a:xfrm rot="5400000">
            <a:off x="1542459" y="328057"/>
            <a:ext cx="216000" cy="2029839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976554-018A-112A-1719-5996A168F72F}"/>
              </a:ext>
            </a:extLst>
          </p:cNvPr>
          <p:cNvSpPr txBox="1"/>
          <p:nvPr/>
        </p:nvSpPr>
        <p:spPr>
          <a:xfrm>
            <a:off x="2665379" y="657128"/>
            <a:ext cx="2999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>
                <a:solidFill>
                  <a:schemeClr val="bg2">
                    <a:lumMod val="25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-Data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F848FB-F4ED-190E-48B1-4A3D68E5EB3D}"/>
              </a:ext>
            </a:extLst>
          </p:cNvPr>
          <p:cNvSpPr txBox="1"/>
          <p:nvPr/>
        </p:nvSpPr>
        <p:spPr>
          <a:xfrm>
            <a:off x="553158" y="1450977"/>
            <a:ext cx="11085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9DA6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Descriptive Analysis: </a:t>
            </a:r>
            <a:r>
              <a:rPr lang="en-US" altLang="zh-TW" sz="2000" dirty="0">
                <a:solidFill>
                  <a:srgbClr val="009DA6"/>
                </a:solidFill>
              </a:rPr>
              <a:t>Heatmap-Analyzing Significant Factors Affecting </a:t>
            </a:r>
            <a:r>
              <a:rPr lang="en-US" altLang="zh-TW" sz="2000" b="1" dirty="0">
                <a:solidFill>
                  <a:schemeClr val="accent5"/>
                </a:solidFill>
              </a:rPr>
              <a:t>Finding New Job Rate</a:t>
            </a:r>
            <a:endParaRPr lang="en-US" altLang="zh-TW" sz="2000" b="1" dirty="0">
              <a:solidFill>
                <a:schemeClr val="accent5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85927C90-F228-FA69-73A4-26850730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177" y="1960847"/>
            <a:ext cx="3102823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2673A9C9-EC71-F371-8FA4-91AF65009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576" y="4332394"/>
            <a:ext cx="3017424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D8872444-D9BD-CA71-3549-0DBE2E9BC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979" y="4352609"/>
            <a:ext cx="3078423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30F58652-8521-75D6-5C1B-5748F6372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757" y="4332394"/>
            <a:ext cx="3102823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FDB57B8E-67B6-4167-B340-F841E97B6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694" y="4352609"/>
            <a:ext cx="3086556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26C775B-140D-BE35-81BC-99A00DF94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405" y="1978037"/>
            <a:ext cx="2838493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FB7DDA73-0315-BEB7-0755-45DCD0EF0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57" y="1938849"/>
            <a:ext cx="3078423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7D21EE2B-BECF-6E34-5A50-A54629908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81" y="1944750"/>
            <a:ext cx="2720561" cy="224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00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1322</Words>
  <Application>Microsoft Office PowerPoint</Application>
  <PresentationFormat>寬螢幕</PresentationFormat>
  <Paragraphs>169</Paragraphs>
  <Slides>18</Slides>
  <Notes>18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Arial Unicode MS</vt:lpstr>
      <vt:lpstr>Aptos</vt:lpstr>
      <vt:lpstr>Aptos Display</vt:lpstr>
      <vt:lpstr>Arial</vt:lpstr>
      <vt:lpstr>Calibri</vt:lpstr>
      <vt:lpstr>Wingdings</vt:lpstr>
      <vt:lpstr>Office 佈景主題</vt:lpstr>
      <vt:lpstr>Worksheet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懷萱 黃</dc:creator>
  <cp:lastModifiedBy>懷萱 黃</cp:lastModifiedBy>
  <cp:revision>232</cp:revision>
  <dcterms:created xsi:type="dcterms:W3CDTF">2025-02-16T23:33:34Z</dcterms:created>
  <dcterms:modified xsi:type="dcterms:W3CDTF">2025-02-17T21:10:04Z</dcterms:modified>
</cp:coreProperties>
</file>